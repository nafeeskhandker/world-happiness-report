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ink/ink5.xml" ContentType="application/inkml+xml"/>
  <Override PartName="/ppt/notesSlides/notesSlide9.xml" ContentType="application/vnd.openxmlformats-officedocument.presentationml.notesSlide+xml"/>
  <Override PartName="/ppt/ink/ink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7.xml" ContentType="application/inkml+xml"/>
  <Override PartName="/ppt/notesSlides/notesSlide15.xml" ContentType="application/vnd.openxmlformats-officedocument.presentationml.notesSlide+xml"/>
  <Override PartName="/ppt/ink/ink8.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sldIdLst>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4" r:id="rId20"/>
    <p:sldId id="275" r:id="rId21"/>
    <p:sldId id="276" r:id="rId22"/>
    <p:sldId id="277" r:id="rId23"/>
    <p:sldId id="278" r:id="rId24"/>
    <p:sldId id="272" r:id="rId25"/>
    <p:sldId id="273" r:id="rId26"/>
    <p:sldId id="2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B7DA0-900D-4DEB-A14C-94B99FFBD2B6}" v="151" dt="2025-05-05T15:31:02.8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2" d="100"/>
          <a:sy n="102"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4:02.57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2,'115'-2,"125"4,-129 9,72 3,348-14,-510 1,0 1,31 7,8 1,-39-8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4:07.23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1,'37'2,"70"14,-56-7,28 2,139 2,-186-12,56 10,20 1,78 1,37-1,58-13,-260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4:21.9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19,'1'-1,"-1"0,0 0,1 0,-1 0,1 0,-1 0,1 0,0 0,-1 0,1 0,0 1,0-1,-1 0,1 0,0 1,0-1,0 1,0-1,0 1,0-1,0 1,0-1,0 1,0 0,0 0,0-1,0 1,0 0,1 0,-1 0,1 0,38 1,-38-1,509 18,-420-18,15-2,167 19,-52 30,-207-44,40 5,-28-6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4:27.6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1,'92'19,"191"17,-134-15,208 4,-271-25,106 14,-119-8,82-2,-133-4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4:33.05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1 117,'12'0,"40"0,1-2,70-11,8-5,1 6,201 6,-301 4,0-1,0-1,43-12,-40 7,1 2,41-2,74 8,-81 2,89-10,-117 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4:36.92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80,'8'-1,"-1"0,1-1,-1 0,1 0,10-6,8-1,32-7,1 3,0 3,95-5,185 15,-149 3,310 16,-424-13,81 10,-130-12,12 1,-2 2,40 13,-52-14,-1 0,1-1,45 2,-40-5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4T23:48:36.09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79 0,'1348'-79'0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5T00:05:01.98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0 134,'9'8,"1"0,0-1,0 0,0-1,1 0,-1-1,2 0,14 4,12 3,47 8,-28-13,1-2,0-3,67-5,-5 0,-52 2,101-13,-135 10,-18 3,-1 0,1-2,-1 0,16-5,-28 7,0 0,0 0,0-1,0 1,0-1,-1 0,1 1,0-1,-1 0,1-1,-1 1,0 0,0-1,0 1,0-1,0 0,0 1,-1-1,0 0,1 0,-1 0,0 0,0 0,0-7,0 8,-1 0,0 0,-1 0,1 0,0 0,-1 0,1 0,-1 0,1 0,-1 0,0 0,0 0,0 0,0 0,0 0,-1 1,1-1,0 0,-1 1,1-1,-1 1,0 0,1-1,-1 1,0 0,0 0,0 0,0 0,1 1,-2-1,1 0,0 1,0-1,0 1,-3 0,-12-3,0 1,0 1,-26 2,16-1,-90-10,-22-2,-14 15,-118-5,248-2,0 0,0-1,1-1,0-1,-34-15,34 12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6:01.65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2,'0'2,"0"0,0-1,1 1,-1 0,0 0,1 0,0-1,-1 1,1 0,0-1,0 1,0-1,0 1,0-1,0 1,0-1,1 1,-1-1,0 0,1 0,-1 0,1 0,0 0,-1 0,1 0,0-1,-1 1,1 0,0-1,0 0,-1 1,1-1,0 0,0 0,2 0,11 1,-1-1,1-1,23-3,-12 1,76-3,1 5,128 15,-145-6,0-3,121-9,-179 1,0-2,41-12,-44 10,-1 1,1 1,45-4,155 11,-195-2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6:07.34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0,'1350'0,"-1334"1,0 1,0 1,0 0,0 1,23 9,-23-7,0-1,1-1,0 0,33 3,50-8,-78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6:10.33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27,'0'-1,"0"1,1-1,-1 0,1 0,0 1,-1-1,1 0,0 1,-1-1,1 1,0-1,-1 1,1-1,0 1,0 0,0-1,-1 1,1 0,0 0,0 0,0-1,0 1,1 0,28-4,-26 3,126-7,1 5,148 17,49 0,762-15,-906 14,-30-2,362-9,-264-3,-96 14,-5 0,355-14,-471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4T21:36:12.84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22,'1'-1,"-1"0,1 0,-1 0,1 0,0 0,-1 0,1 0,0 0,-1 0,1 0,0 1,0-1,0 0,0 0,0 1,0-1,0 0,0 1,0 0,0-1,0 1,1-1,-1 1,0 0,0 0,0 0,0 0,2 0,38-3,-39 3,170 11,-24-1,39-11,98 3,83 24,-103-1,-64-3,92 5,90-25,-190-4,-171 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BA33D-553A-4353-879F-FF8B31B967CE}"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95EA18-38D9-45F1-83BE-82CC8F764BAC}" type="slidenum">
              <a:rPr lang="en-US" smtClean="0"/>
              <a:t>‹#›</a:t>
            </a:fld>
            <a:endParaRPr lang="en-US"/>
          </a:p>
        </p:txBody>
      </p:sp>
    </p:spTree>
    <p:extLst>
      <p:ext uri="{BB962C8B-B14F-4D97-AF65-F5344CB8AC3E}">
        <p14:creationId xmlns:p14="http://schemas.microsoft.com/office/powerpoint/2010/main" val="408803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95EA18-38D9-45F1-83BE-82CC8F764BAC}" type="slidenum">
              <a:rPr lang="en-US" smtClean="0"/>
              <a:t>5</a:t>
            </a:fld>
            <a:endParaRPr lang="en-US"/>
          </a:p>
        </p:txBody>
      </p:sp>
    </p:spTree>
    <p:extLst>
      <p:ext uri="{BB962C8B-B14F-4D97-AF65-F5344CB8AC3E}">
        <p14:creationId xmlns:p14="http://schemas.microsoft.com/office/powerpoint/2010/main" val="3705856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FEDB1-6797-E3D3-10B7-52A79E8FD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D1699-4494-0B3F-8A52-E666F0A62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88793-EE39-40EA-E893-5B8260C51F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89FB72-2815-2861-5103-4C6A637A995A}"/>
              </a:ext>
            </a:extLst>
          </p:cNvPr>
          <p:cNvSpPr>
            <a:spLocks noGrp="1"/>
          </p:cNvSpPr>
          <p:nvPr>
            <p:ph type="sldNum" sz="quarter" idx="5"/>
          </p:nvPr>
        </p:nvSpPr>
        <p:spPr/>
        <p:txBody>
          <a:bodyPr/>
          <a:lstStyle/>
          <a:p>
            <a:fld id="{8795EA18-38D9-45F1-83BE-82CC8F764BAC}" type="slidenum">
              <a:rPr lang="en-US" smtClean="0"/>
              <a:t>6</a:t>
            </a:fld>
            <a:endParaRPr lang="en-US"/>
          </a:p>
        </p:txBody>
      </p:sp>
    </p:spTree>
    <p:extLst>
      <p:ext uri="{BB962C8B-B14F-4D97-AF65-F5344CB8AC3E}">
        <p14:creationId xmlns:p14="http://schemas.microsoft.com/office/powerpoint/2010/main" val="2473684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0FA54-4361-3EFA-4769-5055DDAFB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37882-760C-D284-D38E-F875D51242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F963A3-1613-E010-26DC-7A56D526A4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23F67E-47BE-5782-3F5B-2F18E9510D9A}"/>
              </a:ext>
            </a:extLst>
          </p:cNvPr>
          <p:cNvSpPr>
            <a:spLocks noGrp="1"/>
          </p:cNvSpPr>
          <p:nvPr>
            <p:ph type="sldNum" sz="quarter" idx="5"/>
          </p:nvPr>
        </p:nvSpPr>
        <p:spPr/>
        <p:txBody>
          <a:bodyPr/>
          <a:lstStyle/>
          <a:p>
            <a:fld id="{8795EA18-38D9-45F1-83BE-82CC8F764BAC}" type="slidenum">
              <a:rPr lang="en-US" smtClean="0"/>
              <a:t>7</a:t>
            </a:fld>
            <a:endParaRPr lang="en-US"/>
          </a:p>
        </p:txBody>
      </p:sp>
    </p:spTree>
    <p:extLst>
      <p:ext uri="{BB962C8B-B14F-4D97-AF65-F5344CB8AC3E}">
        <p14:creationId xmlns:p14="http://schemas.microsoft.com/office/powerpoint/2010/main" val="2863595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19A7C-686D-3226-54AB-04985FD58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1620A-9B10-8D61-2EAF-081935761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6A299D-3BFF-7B39-BAE9-07409598B1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879EA0-55CC-3D6F-A128-D10F8D3ADAA7}"/>
              </a:ext>
            </a:extLst>
          </p:cNvPr>
          <p:cNvSpPr>
            <a:spLocks noGrp="1"/>
          </p:cNvSpPr>
          <p:nvPr>
            <p:ph type="sldNum" sz="quarter" idx="5"/>
          </p:nvPr>
        </p:nvSpPr>
        <p:spPr/>
        <p:txBody>
          <a:bodyPr/>
          <a:lstStyle/>
          <a:p>
            <a:fld id="{8795EA18-38D9-45F1-83BE-82CC8F764BAC}" type="slidenum">
              <a:rPr lang="en-US" smtClean="0"/>
              <a:t>8</a:t>
            </a:fld>
            <a:endParaRPr lang="en-US"/>
          </a:p>
        </p:txBody>
      </p:sp>
    </p:spTree>
    <p:extLst>
      <p:ext uri="{BB962C8B-B14F-4D97-AF65-F5344CB8AC3E}">
        <p14:creationId xmlns:p14="http://schemas.microsoft.com/office/powerpoint/2010/main" val="131238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B1266-C4E1-3889-02DA-76BCBE94C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1CEBE-3B61-FBA1-1781-7F6D1478D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9EF706-5A22-49CB-BED9-F4EF008906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C44ED6-2F42-E684-AB68-C5FB4938972D}"/>
              </a:ext>
            </a:extLst>
          </p:cNvPr>
          <p:cNvSpPr>
            <a:spLocks noGrp="1"/>
          </p:cNvSpPr>
          <p:nvPr>
            <p:ph type="sldNum" sz="quarter" idx="5"/>
          </p:nvPr>
        </p:nvSpPr>
        <p:spPr/>
        <p:txBody>
          <a:bodyPr/>
          <a:lstStyle/>
          <a:p>
            <a:fld id="{8795EA18-38D9-45F1-83BE-82CC8F764BAC}" type="slidenum">
              <a:rPr lang="en-US" smtClean="0"/>
              <a:t>9</a:t>
            </a:fld>
            <a:endParaRPr lang="en-US"/>
          </a:p>
        </p:txBody>
      </p:sp>
    </p:spTree>
    <p:extLst>
      <p:ext uri="{BB962C8B-B14F-4D97-AF65-F5344CB8AC3E}">
        <p14:creationId xmlns:p14="http://schemas.microsoft.com/office/powerpoint/2010/main" val="369318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01258-94D1-1A34-29AC-551106722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47EC7-20A8-D202-2826-3947A0697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FCF3D-9CC4-747E-33C6-EE0A6D61D5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5E802C-C0B9-A84B-2563-2E843A06F4C2}"/>
              </a:ext>
            </a:extLst>
          </p:cNvPr>
          <p:cNvSpPr>
            <a:spLocks noGrp="1"/>
          </p:cNvSpPr>
          <p:nvPr>
            <p:ph type="sldNum" sz="quarter" idx="5"/>
          </p:nvPr>
        </p:nvSpPr>
        <p:spPr/>
        <p:txBody>
          <a:bodyPr/>
          <a:lstStyle/>
          <a:p>
            <a:fld id="{8795EA18-38D9-45F1-83BE-82CC8F764BAC}" type="slidenum">
              <a:rPr lang="en-US" smtClean="0"/>
              <a:t>10</a:t>
            </a:fld>
            <a:endParaRPr lang="en-US"/>
          </a:p>
        </p:txBody>
      </p:sp>
    </p:spTree>
    <p:extLst>
      <p:ext uri="{BB962C8B-B14F-4D97-AF65-F5344CB8AC3E}">
        <p14:creationId xmlns:p14="http://schemas.microsoft.com/office/powerpoint/2010/main" val="138145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49B45-E376-13ED-363F-A7E0947B07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5108A-111E-499A-2189-381D3E4A4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03BCF-B8D4-0B14-3DDD-D6002871F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784920-7F17-3ED7-A7C0-E46C33934E23}"/>
              </a:ext>
            </a:extLst>
          </p:cNvPr>
          <p:cNvSpPr>
            <a:spLocks noGrp="1"/>
          </p:cNvSpPr>
          <p:nvPr>
            <p:ph type="sldNum" sz="quarter" idx="5"/>
          </p:nvPr>
        </p:nvSpPr>
        <p:spPr/>
        <p:txBody>
          <a:bodyPr/>
          <a:lstStyle/>
          <a:p>
            <a:fld id="{8795EA18-38D9-45F1-83BE-82CC8F764BAC}" type="slidenum">
              <a:rPr lang="en-US" smtClean="0"/>
              <a:t>11</a:t>
            </a:fld>
            <a:endParaRPr lang="en-US"/>
          </a:p>
        </p:txBody>
      </p:sp>
    </p:spTree>
    <p:extLst>
      <p:ext uri="{BB962C8B-B14F-4D97-AF65-F5344CB8AC3E}">
        <p14:creationId xmlns:p14="http://schemas.microsoft.com/office/powerpoint/2010/main" val="3015226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CF07A-934A-EC65-85F2-0420DDC1B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6A421-1390-5FC0-6B9A-2F8D81835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A206F-2A96-9E0C-EEB1-0CBE0A2A3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72676B-AA44-6FE6-A89C-B255362E827B}"/>
              </a:ext>
            </a:extLst>
          </p:cNvPr>
          <p:cNvSpPr>
            <a:spLocks noGrp="1"/>
          </p:cNvSpPr>
          <p:nvPr>
            <p:ph type="sldNum" sz="quarter" idx="5"/>
          </p:nvPr>
        </p:nvSpPr>
        <p:spPr/>
        <p:txBody>
          <a:bodyPr/>
          <a:lstStyle/>
          <a:p>
            <a:fld id="{8795EA18-38D9-45F1-83BE-82CC8F764BAC}" type="slidenum">
              <a:rPr lang="en-US" smtClean="0"/>
              <a:t>12</a:t>
            </a:fld>
            <a:endParaRPr lang="en-US"/>
          </a:p>
        </p:txBody>
      </p:sp>
    </p:spTree>
    <p:extLst>
      <p:ext uri="{BB962C8B-B14F-4D97-AF65-F5344CB8AC3E}">
        <p14:creationId xmlns:p14="http://schemas.microsoft.com/office/powerpoint/2010/main" val="2325373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BACEE-2E57-78B1-7FB9-D888B6112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28504-951E-C73C-27CA-F1D319DD1F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1CFB4-95B8-9231-5CCA-7810B08E03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1BA859-D3AF-EE2F-B19F-3DEA03753B1A}"/>
              </a:ext>
            </a:extLst>
          </p:cNvPr>
          <p:cNvSpPr>
            <a:spLocks noGrp="1"/>
          </p:cNvSpPr>
          <p:nvPr>
            <p:ph type="sldNum" sz="quarter" idx="5"/>
          </p:nvPr>
        </p:nvSpPr>
        <p:spPr/>
        <p:txBody>
          <a:bodyPr/>
          <a:lstStyle/>
          <a:p>
            <a:fld id="{8795EA18-38D9-45F1-83BE-82CC8F764BAC}" type="slidenum">
              <a:rPr lang="en-US" smtClean="0"/>
              <a:t>13</a:t>
            </a:fld>
            <a:endParaRPr lang="en-US"/>
          </a:p>
        </p:txBody>
      </p:sp>
    </p:spTree>
    <p:extLst>
      <p:ext uri="{BB962C8B-B14F-4D97-AF65-F5344CB8AC3E}">
        <p14:creationId xmlns:p14="http://schemas.microsoft.com/office/powerpoint/2010/main" val="378909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0DC59-7B32-A0F2-CDA5-8C5688489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FB998-A892-87C6-92ED-16BC7A418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992A4-CCB5-59DD-DD76-D23F0C8867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141EDD-F784-23F6-C7B0-D062EDA7F80E}"/>
              </a:ext>
            </a:extLst>
          </p:cNvPr>
          <p:cNvSpPr>
            <a:spLocks noGrp="1"/>
          </p:cNvSpPr>
          <p:nvPr>
            <p:ph type="sldNum" sz="quarter" idx="5"/>
          </p:nvPr>
        </p:nvSpPr>
        <p:spPr/>
        <p:txBody>
          <a:bodyPr/>
          <a:lstStyle/>
          <a:p>
            <a:fld id="{8795EA18-38D9-45F1-83BE-82CC8F764BAC}" type="slidenum">
              <a:rPr lang="en-US" smtClean="0"/>
              <a:t>14</a:t>
            </a:fld>
            <a:endParaRPr lang="en-US"/>
          </a:p>
        </p:txBody>
      </p:sp>
    </p:spTree>
    <p:extLst>
      <p:ext uri="{BB962C8B-B14F-4D97-AF65-F5344CB8AC3E}">
        <p14:creationId xmlns:p14="http://schemas.microsoft.com/office/powerpoint/2010/main" val="23200499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4DE3C-B6C8-FF57-1469-8EB500518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0EB83-A443-E7FB-A350-6DA375637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9B134-885B-7D93-915E-87F84D6A46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2E525B-9A98-350B-A97C-1013ACF74DE3}"/>
              </a:ext>
            </a:extLst>
          </p:cNvPr>
          <p:cNvSpPr>
            <a:spLocks noGrp="1"/>
          </p:cNvSpPr>
          <p:nvPr>
            <p:ph type="sldNum" sz="quarter" idx="5"/>
          </p:nvPr>
        </p:nvSpPr>
        <p:spPr/>
        <p:txBody>
          <a:bodyPr/>
          <a:lstStyle/>
          <a:p>
            <a:fld id="{8795EA18-38D9-45F1-83BE-82CC8F764BAC}" type="slidenum">
              <a:rPr lang="en-US" smtClean="0"/>
              <a:t>15</a:t>
            </a:fld>
            <a:endParaRPr lang="en-US"/>
          </a:p>
        </p:txBody>
      </p:sp>
    </p:spTree>
    <p:extLst>
      <p:ext uri="{BB962C8B-B14F-4D97-AF65-F5344CB8AC3E}">
        <p14:creationId xmlns:p14="http://schemas.microsoft.com/office/powerpoint/2010/main" val="2198979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4DB6F-32C8-B43B-A635-1E8536F9C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12994-7FBC-8F79-D28B-10F3B470AE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835DB-7FEC-1942-E563-E39BD8B5B7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9DFC4C-016C-6917-1AD9-9CF14E4F977D}"/>
              </a:ext>
            </a:extLst>
          </p:cNvPr>
          <p:cNvSpPr>
            <a:spLocks noGrp="1"/>
          </p:cNvSpPr>
          <p:nvPr>
            <p:ph type="sldNum" sz="quarter" idx="5"/>
          </p:nvPr>
        </p:nvSpPr>
        <p:spPr/>
        <p:txBody>
          <a:bodyPr/>
          <a:lstStyle/>
          <a:p>
            <a:fld id="{8795EA18-38D9-45F1-83BE-82CC8F764BAC}" type="slidenum">
              <a:rPr lang="en-US" smtClean="0"/>
              <a:t>16</a:t>
            </a:fld>
            <a:endParaRPr lang="en-US"/>
          </a:p>
        </p:txBody>
      </p:sp>
    </p:spTree>
    <p:extLst>
      <p:ext uri="{BB962C8B-B14F-4D97-AF65-F5344CB8AC3E}">
        <p14:creationId xmlns:p14="http://schemas.microsoft.com/office/powerpoint/2010/main" val="3682212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03CD5-9C7A-6507-BB33-FC2886179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CDD26-D0E9-FBF7-0CAB-F8D11F12D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6DC07-DD90-A15A-D9A7-F29D9B3179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BBF6D0-22B4-2F4A-0D28-F55CD2051C1A}"/>
              </a:ext>
            </a:extLst>
          </p:cNvPr>
          <p:cNvSpPr>
            <a:spLocks noGrp="1"/>
          </p:cNvSpPr>
          <p:nvPr>
            <p:ph type="sldNum" sz="quarter" idx="5"/>
          </p:nvPr>
        </p:nvSpPr>
        <p:spPr/>
        <p:txBody>
          <a:bodyPr/>
          <a:lstStyle/>
          <a:p>
            <a:fld id="{8795EA18-38D9-45F1-83BE-82CC8F764BAC}" type="slidenum">
              <a:rPr lang="en-US" smtClean="0"/>
              <a:t>17</a:t>
            </a:fld>
            <a:endParaRPr lang="en-US"/>
          </a:p>
        </p:txBody>
      </p:sp>
    </p:spTree>
    <p:extLst>
      <p:ext uri="{BB962C8B-B14F-4D97-AF65-F5344CB8AC3E}">
        <p14:creationId xmlns:p14="http://schemas.microsoft.com/office/powerpoint/2010/main" val="1380170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920C4-4E50-160F-9E25-33072038B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14033-D128-2881-0122-3D552EC2DC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F2396-EF73-696F-E611-DB8907FCB3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3BAF6A-930C-7AA6-BF29-9ABB023CDB5D}"/>
              </a:ext>
            </a:extLst>
          </p:cNvPr>
          <p:cNvSpPr>
            <a:spLocks noGrp="1"/>
          </p:cNvSpPr>
          <p:nvPr>
            <p:ph type="sldNum" sz="quarter" idx="5"/>
          </p:nvPr>
        </p:nvSpPr>
        <p:spPr/>
        <p:txBody>
          <a:bodyPr/>
          <a:lstStyle/>
          <a:p>
            <a:fld id="{8795EA18-38D9-45F1-83BE-82CC8F764BAC}" type="slidenum">
              <a:rPr lang="en-US" smtClean="0"/>
              <a:t>18</a:t>
            </a:fld>
            <a:endParaRPr lang="en-US"/>
          </a:p>
        </p:txBody>
      </p:sp>
    </p:spTree>
    <p:extLst>
      <p:ext uri="{BB962C8B-B14F-4D97-AF65-F5344CB8AC3E}">
        <p14:creationId xmlns:p14="http://schemas.microsoft.com/office/powerpoint/2010/main" val="1753986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5D164-AA44-A3C8-EAAF-3D2D2B2A6B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6A1A8-F178-ECAD-2AF7-087F4364B9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718D3-F3D0-5417-87B1-A2CE55CD31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BB2B24-57A1-31FB-7844-C595B3A4BCA5}"/>
              </a:ext>
            </a:extLst>
          </p:cNvPr>
          <p:cNvSpPr>
            <a:spLocks noGrp="1"/>
          </p:cNvSpPr>
          <p:nvPr>
            <p:ph type="sldNum" sz="quarter" idx="5"/>
          </p:nvPr>
        </p:nvSpPr>
        <p:spPr/>
        <p:txBody>
          <a:bodyPr/>
          <a:lstStyle/>
          <a:p>
            <a:fld id="{8795EA18-38D9-45F1-83BE-82CC8F764BAC}" type="slidenum">
              <a:rPr lang="en-US" smtClean="0"/>
              <a:t>19</a:t>
            </a:fld>
            <a:endParaRPr lang="en-US"/>
          </a:p>
        </p:txBody>
      </p:sp>
    </p:spTree>
    <p:extLst>
      <p:ext uri="{BB962C8B-B14F-4D97-AF65-F5344CB8AC3E}">
        <p14:creationId xmlns:p14="http://schemas.microsoft.com/office/powerpoint/2010/main" val="3779983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2D3AE-DD77-03BD-8958-4F754CBEF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C1028-B6CC-0B62-6F8B-7A6894775B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488AB6-0809-E711-AEBA-7CCB9DED7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E3242C-CDED-665A-BA23-9892D6115E47}"/>
              </a:ext>
            </a:extLst>
          </p:cNvPr>
          <p:cNvSpPr>
            <a:spLocks noGrp="1"/>
          </p:cNvSpPr>
          <p:nvPr>
            <p:ph type="sldNum" sz="quarter" idx="5"/>
          </p:nvPr>
        </p:nvSpPr>
        <p:spPr/>
        <p:txBody>
          <a:bodyPr/>
          <a:lstStyle/>
          <a:p>
            <a:fld id="{8795EA18-38D9-45F1-83BE-82CC8F764BAC}" type="slidenum">
              <a:rPr lang="en-US" smtClean="0"/>
              <a:t>20</a:t>
            </a:fld>
            <a:endParaRPr lang="en-US"/>
          </a:p>
        </p:txBody>
      </p:sp>
    </p:spTree>
    <p:extLst>
      <p:ext uri="{BB962C8B-B14F-4D97-AF65-F5344CB8AC3E}">
        <p14:creationId xmlns:p14="http://schemas.microsoft.com/office/powerpoint/2010/main" val="4220752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E9EE4-4627-658E-5300-26EA7ED16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4301A-EF66-8B08-D568-7019ECE822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C5137-02AE-E274-6A32-64C6A1F44D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3A2D7C-1972-B100-43C4-EEB118E92831}"/>
              </a:ext>
            </a:extLst>
          </p:cNvPr>
          <p:cNvSpPr>
            <a:spLocks noGrp="1"/>
          </p:cNvSpPr>
          <p:nvPr>
            <p:ph type="sldNum" sz="quarter" idx="5"/>
          </p:nvPr>
        </p:nvSpPr>
        <p:spPr/>
        <p:txBody>
          <a:bodyPr/>
          <a:lstStyle/>
          <a:p>
            <a:fld id="{8795EA18-38D9-45F1-83BE-82CC8F764BAC}" type="slidenum">
              <a:rPr lang="en-US" smtClean="0"/>
              <a:t>21</a:t>
            </a:fld>
            <a:endParaRPr lang="en-US"/>
          </a:p>
        </p:txBody>
      </p:sp>
    </p:spTree>
    <p:extLst>
      <p:ext uri="{BB962C8B-B14F-4D97-AF65-F5344CB8AC3E}">
        <p14:creationId xmlns:p14="http://schemas.microsoft.com/office/powerpoint/2010/main" val="4162580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7A047-311E-8A37-869C-F9349C46A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9DA41-7BE2-A1B8-C197-F55346176D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B9A8F1-E8DD-4599-F7BD-C5D450F4F2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20C482-F385-2887-8206-389A5565BB61}"/>
              </a:ext>
            </a:extLst>
          </p:cNvPr>
          <p:cNvSpPr>
            <a:spLocks noGrp="1"/>
          </p:cNvSpPr>
          <p:nvPr>
            <p:ph type="sldNum" sz="quarter" idx="5"/>
          </p:nvPr>
        </p:nvSpPr>
        <p:spPr/>
        <p:txBody>
          <a:bodyPr/>
          <a:lstStyle/>
          <a:p>
            <a:fld id="{8795EA18-38D9-45F1-83BE-82CC8F764BAC}" type="slidenum">
              <a:rPr lang="en-US" smtClean="0"/>
              <a:t>22</a:t>
            </a:fld>
            <a:endParaRPr lang="en-US"/>
          </a:p>
        </p:txBody>
      </p:sp>
    </p:spTree>
    <p:extLst>
      <p:ext uri="{BB962C8B-B14F-4D97-AF65-F5344CB8AC3E}">
        <p14:creationId xmlns:p14="http://schemas.microsoft.com/office/powerpoint/2010/main" val="3522457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FA853-046B-751A-ED0E-4967F15A0D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6C9D21-3569-0D76-7E99-8A6F3857E0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9D620F-38AC-985C-54A1-3140935B63BF}"/>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5" name="Footer Placeholder 4">
            <a:extLst>
              <a:ext uri="{FF2B5EF4-FFF2-40B4-BE49-F238E27FC236}">
                <a16:creationId xmlns:a16="http://schemas.microsoft.com/office/drawing/2014/main" id="{73FFC1EB-E7B2-A444-92E4-FB09D48731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09F5A1-6A10-BD78-599A-83D6048B47CE}"/>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1164127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30D4F-D00E-D6A8-7C58-ED28B756E8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426574-7F73-F8F0-F2F8-576655E785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A3632-0552-8196-653B-0E63E7370557}"/>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5" name="Footer Placeholder 4">
            <a:extLst>
              <a:ext uri="{FF2B5EF4-FFF2-40B4-BE49-F238E27FC236}">
                <a16:creationId xmlns:a16="http://schemas.microsoft.com/office/drawing/2014/main" id="{DAE84AFE-4409-1622-D41C-2D4792B573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BA2B07-5E9F-2D1E-419D-08D77357E194}"/>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699580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E99F3-28D7-8D65-DBFC-CC79B0F5FD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2CF789-04B4-CB7B-A1AC-41C1E0E6D1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8AE24F-61E3-6ADC-1569-3BC0E05F5BF5}"/>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5" name="Footer Placeholder 4">
            <a:extLst>
              <a:ext uri="{FF2B5EF4-FFF2-40B4-BE49-F238E27FC236}">
                <a16:creationId xmlns:a16="http://schemas.microsoft.com/office/drawing/2014/main" id="{F4159A6A-999C-6E50-11CF-79D523A9A1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4C522-323C-9AB7-2983-5B793F7E599A}"/>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920540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AA47-DFEE-2424-264B-C35785F313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24EC97-83D3-DD5F-232E-94F1C1C6E5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8EC9F9-544E-E58A-8AE6-5C1EB09C42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1A6EFB-6F1F-D22C-3532-A7462C756D24}"/>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6" name="Footer Placeholder 5">
            <a:extLst>
              <a:ext uri="{FF2B5EF4-FFF2-40B4-BE49-F238E27FC236}">
                <a16:creationId xmlns:a16="http://schemas.microsoft.com/office/drawing/2014/main" id="{D331EDD6-EF45-A436-4625-BA33C2879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BB8CA6-057B-15F8-B167-F414AB3DF463}"/>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073565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5C93-C4DA-DA3A-D60B-D6CD4B6FF2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0D3850-ED96-23AC-30A8-11AD426997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99FFAF-E6B5-6515-6707-89CDA021CB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2D2BD9-D668-3A9A-20DD-7A17634FBA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587C8D-CF15-4DCD-C7B7-E60688511D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B34F7-422A-FE41-2FD7-1E74BE5FB854}"/>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8" name="Footer Placeholder 7">
            <a:extLst>
              <a:ext uri="{FF2B5EF4-FFF2-40B4-BE49-F238E27FC236}">
                <a16:creationId xmlns:a16="http://schemas.microsoft.com/office/drawing/2014/main" id="{FA151643-7199-0AFD-F8CA-D01C76B003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62B12C-D269-D2B9-3F7D-8F3FB906670E}"/>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132429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AC02E-692F-4B6F-FB3F-5672135F98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7FBEAF-233B-8A0D-0C1C-7664329C6F07}"/>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4" name="Footer Placeholder 3">
            <a:extLst>
              <a:ext uri="{FF2B5EF4-FFF2-40B4-BE49-F238E27FC236}">
                <a16:creationId xmlns:a16="http://schemas.microsoft.com/office/drawing/2014/main" id="{066AB724-958A-D962-F022-05D00EC694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3E874-8768-E305-6E9C-3EC36E07A0F5}"/>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884663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7F478B-D424-EDFA-A798-69C6571B26BA}"/>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3" name="Footer Placeholder 2">
            <a:extLst>
              <a:ext uri="{FF2B5EF4-FFF2-40B4-BE49-F238E27FC236}">
                <a16:creationId xmlns:a16="http://schemas.microsoft.com/office/drawing/2014/main" id="{AAD8E3B7-947B-356C-2468-8F7F026343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BB3B4B-FB85-1508-C51D-4DE07AADA0AA}"/>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140367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1AE43-8517-C2D3-48DA-9BE23F31E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874CB4-8430-0FA8-9E79-C6D7770B7A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B660E0-A5D7-1F06-7A2F-5E2231A83C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EE116A-C728-C356-4758-512893B28F8C}"/>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6" name="Footer Placeholder 5">
            <a:extLst>
              <a:ext uri="{FF2B5EF4-FFF2-40B4-BE49-F238E27FC236}">
                <a16:creationId xmlns:a16="http://schemas.microsoft.com/office/drawing/2014/main" id="{4007D620-4F65-FBE8-C0BD-A6E57AC654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AB39BF-B0FE-3603-7054-A422A82E9D34}"/>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1687250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A604-EF86-5829-166B-6C21B26D7A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D320C7-1876-A40E-5FD6-F1F15BB40F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530EBA-D113-9B83-1778-A3C5C74DD9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26456-E27A-BE12-A30A-619A6074C2BE}"/>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6" name="Footer Placeholder 5">
            <a:extLst>
              <a:ext uri="{FF2B5EF4-FFF2-40B4-BE49-F238E27FC236}">
                <a16:creationId xmlns:a16="http://schemas.microsoft.com/office/drawing/2014/main" id="{EDC8EFDB-37D8-FA38-57D6-2296522F07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CF00F2-1A2A-0C57-389B-FDD7E8660D59}"/>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4081791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0903B-BFEF-44A9-56CE-9E9D96E343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0A2954-8B30-3AA2-BD54-9B31DFF40E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88FD7B-0116-01B7-4EFA-921CDEBD1AFD}"/>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5" name="Footer Placeholder 4">
            <a:extLst>
              <a:ext uri="{FF2B5EF4-FFF2-40B4-BE49-F238E27FC236}">
                <a16:creationId xmlns:a16="http://schemas.microsoft.com/office/drawing/2014/main" id="{C6B10D42-62BA-EC49-A5C4-5D0F3DD1A7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988AFF-8B2F-29B0-0399-A1A73DECEAE3}"/>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366672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7909A6-9947-43FE-B8D2-AF2AF95FFF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086D67-975C-243E-B2B7-6DF703A32A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B2BC92-AC75-D87E-D3C3-3F5AD8340DFD}"/>
              </a:ext>
            </a:extLst>
          </p:cNvPr>
          <p:cNvSpPr>
            <a:spLocks noGrp="1"/>
          </p:cNvSpPr>
          <p:nvPr>
            <p:ph type="dt" sz="half" idx="10"/>
          </p:nvPr>
        </p:nvSpPr>
        <p:spPr/>
        <p:txBody>
          <a:bodyPr/>
          <a:lstStyle/>
          <a:p>
            <a:fld id="{990ECB86-1029-457B-ADD0-3B72F1CA9B9F}" type="datetimeFigureOut">
              <a:rPr lang="en-US" smtClean="0"/>
              <a:t>12/7/2025</a:t>
            </a:fld>
            <a:endParaRPr lang="en-US"/>
          </a:p>
        </p:txBody>
      </p:sp>
      <p:sp>
        <p:nvSpPr>
          <p:cNvPr id="5" name="Footer Placeholder 4">
            <a:extLst>
              <a:ext uri="{FF2B5EF4-FFF2-40B4-BE49-F238E27FC236}">
                <a16:creationId xmlns:a16="http://schemas.microsoft.com/office/drawing/2014/main" id="{3AAD0738-B76B-1C48-E4EA-0F97DB23A0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F3424-6E49-6E69-46E4-F43CE0C45CAF}"/>
              </a:ext>
            </a:extLst>
          </p:cNvPr>
          <p:cNvSpPr>
            <a:spLocks noGrp="1"/>
          </p:cNvSpPr>
          <p:nvPr>
            <p:ph type="sldNum" sz="quarter" idx="12"/>
          </p:nvPr>
        </p:nvSpPr>
        <p:spPr/>
        <p:txBody>
          <a:bodyPr/>
          <a:lstStyle/>
          <a:p>
            <a:fld id="{4B53FDBB-7FCD-4BA1-B771-B648D3CDEFFA}" type="slidenum">
              <a:rPr lang="en-US" smtClean="0"/>
              <a:t>‹#›</a:t>
            </a:fld>
            <a:endParaRPr lang="en-US"/>
          </a:p>
        </p:txBody>
      </p:sp>
    </p:spTree>
    <p:extLst>
      <p:ext uri="{BB962C8B-B14F-4D97-AF65-F5344CB8AC3E}">
        <p14:creationId xmlns:p14="http://schemas.microsoft.com/office/powerpoint/2010/main" val="3371818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8CD4C6-31F4-F7ED-481C-C6D1C78104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719A93-B5DA-01D1-DDF8-5D44C1488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4AFE14-43FB-E273-2C53-ADC471AF0C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0ECB86-1029-457B-ADD0-3B72F1CA9B9F}" type="datetimeFigureOut">
              <a:rPr lang="en-US" smtClean="0"/>
              <a:t>12/7/2025</a:t>
            </a:fld>
            <a:endParaRPr lang="en-US"/>
          </a:p>
        </p:txBody>
      </p:sp>
      <p:sp>
        <p:nvSpPr>
          <p:cNvPr id="5" name="Footer Placeholder 4">
            <a:extLst>
              <a:ext uri="{FF2B5EF4-FFF2-40B4-BE49-F238E27FC236}">
                <a16:creationId xmlns:a16="http://schemas.microsoft.com/office/drawing/2014/main" id="{7A27A075-F9F1-7E38-686C-BEF4416D6A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B68495-B8D5-04D8-0621-B3A5DFFED2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53FDBB-7FCD-4BA1-B771-B648D3CDEFFA}" type="slidenum">
              <a:rPr lang="en-US" smtClean="0"/>
              <a:t>‹#›</a:t>
            </a:fld>
            <a:endParaRPr lang="en-US"/>
          </a:p>
        </p:txBody>
      </p:sp>
    </p:spTree>
    <p:extLst>
      <p:ext uri="{BB962C8B-B14F-4D97-AF65-F5344CB8AC3E}">
        <p14:creationId xmlns:p14="http://schemas.microsoft.com/office/powerpoint/2010/main" val="3474490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orldhappiness.report/data-sharing/"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customXml" Target="../ink/ink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customXml" Target="../ink/ink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customXml" Target="../ink/ink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customXml" Target="../ink/ink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customXml" Target="../ink/ink5.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customXml" Target="../ink/ink6.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customXml" Target="../ink/ink7.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customXml" Target="../ink/ink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customXml" Target="../ink/ink12.xml"/><Relationship Id="rId3" Type="http://schemas.openxmlformats.org/officeDocument/2006/relationships/hyperlink" Target="https://github.com/PhilippeCodes" TargetMode="External"/><Relationship Id="rId7" Type="http://schemas.openxmlformats.org/officeDocument/2006/relationships/customXml" Target="../ink/ink9.xml"/><Relationship Id="rId12"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customXml" Target="../ink/ink11.xml"/><Relationship Id="rId5" Type="http://schemas.openxmlformats.org/officeDocument/2006/relationships/image" Target="../media/image34.png"/><Relationship Id="rId10" Type="http://schemas.openxmlformats.org/officeDocument/2006/relationships/image" Target="../media/image37.png"/><Relationship Id="rId4" Type="http://schemas.openxmlformats.org/officeDocument/2006/relationships/hyperlink" Target="https://github.com/PhilippeCodes/World-Happiness-Report-Data-Analysis" TargetMode="External"/><Relationship Id="rId9" Type="http://schemas.openxmlformats.org/officeDocument/2006/relationships/customXml" Target="../ink/ink10.xml"/><Relationship Id="rId1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B1032-0C09-17F4-FF8D-AA8B8093B18B}"/>
              </a:ext>
            </a:extLst>
          </p:cNvPr>
          <p:cNvSpPr>
            <a:spLocks noGrp="1"/>
          </p:cNvSpPr>
          <p:nvPr>
            <p:ph type="ctrTitle"/>
          </p:nvPr>
        </p:nvSpPr>
        <p:spPr>
          <a:xfrm>
            <a:off x="1524000" y="2292705"/>
            <a:ext cx="9144000" cy="2272590"/>
          </a:xfrm>
        </p:spPr>
        <p:txBody>
          <a:bodyPr>
            <a:normAutofit/>
          </a:bodyPr>
          <a:lstStyle/>
          <a:p>
            <a:pPr algn="l"/>
            <a:r>
              <a:rPr lang="en-US" sz="4000" b="1" dirty="0"/>
              <a:t>World Happiness Report: An Analysis of Economic, Social, and Governance Influences</a:t>
            </a:r>
          </a:p>
        </p:txBody>
      </p:sp>
      <p:sp>
        <p:nvSpPr>
          <p:cNvPr id="3" name="Subtitle 2">
            <a:extLst>
              <a:ext uri="{FF2B5EF4-FFF2-40B4-BE49-F238E27FC236}">
                <a16:creationId xmlns:a16="http://schemas.microsoft.com/office/drawing/2014/main" id="{CEAD24FC-DE6C-1934-EC4C-FC0092733EDA}"/>
              </a:ext>
            </a:extLst>
          </p:cNvPr>
          <p:cNvSpPr>
            <a:spLocks noGrp="1"/>
          </p:cNvSpPr>
          <p:nvPr>
            <p:ph type="subTitle" idx="1"/>
          </p:nvPr>
        </p:nvSpPr>
        <p:spPr>
          <a:xfrm>
            <a:off x="1524000" y="5515581"/>
            <a:ext cx="9144000" cy="549613"/>
          </a:xfrm>
        </p:spPr>
        <p:txBody>
          <a:bodyPr/>
          <a:lstStyle/>
          <a:p>
            <a:pPr algn="l"/>
            <a:r>
              <a:rPr lang="en-US" dirty="0">
                <a:solidFill>
                  <a:schemeClr val="bg2">
                    <a:lumMod val="50000"/>
                  </a:schemeClr>
                </a:solidFill>
              </a:rPr>
              <a:t>Khandker M Qaiduzzaman</a:t>
            </a:r>
          </a:p>
        </p:txBody>
      </p:sp>
    </p:spTree>
    <p:extLst>
      <p:ext uri="{BB962C8B-B14F-4D97-AF65-F5344CB8AC3E}">
        <p14:creationId xmlns:p14="http://schemas.microsoft.com/office/powerpoint/2010/main" val="956604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5853B69-0484-2C21-640C-FA927E64DD2E}"/>
              </a:ext>
            </a:extLst>
          </p:cNvPr>
          <p:cNvSpPr>
            <a:spLocks noGrp="1"/>
          </p:cNvSpPr>
          <p:nvPr>
            <p:ph type="subTitle" idx="1"/>
          </p:nvPr>
        </p:nvSpPr>
        <p:spPr>
          <a:xfrm>
            <a:off x="583659" y="1070043"/>
            <a:ext cx="11050621" cy="5457217"/>
          </a:xfrm>
        </p:spPr>
        <p:txBody>
          <a:bodyPr>
            <a:noAutofit/>
          </a:bodyPr>
          <a:lstStyle/>
          <a:p>
            <a:pPr algn="just">
              <a:buNone/>
            </a:pPr>
            <a:r>
              <a:rPr lang="en-US" sz="2200" dirty="0">
                <a:solidFill>
                  <a:schemeClr val="bg2">
                    <a:lumMod val="50000"/>
                  </a:schemeClr>
                </a:solidFill>
                <a:latin typeface="Calibri" panose="020F0502020204030204" pitchFamily="34" charset="0"/>
                <a:cs typeface="Calibri" panose="020F0502020204030204" pitchFamily="34" charset="0"/>
              </a:rPr>
              <a:t>Using information from the World Happiness Report, this project investigates the ways in which economic, social, and governance issues affect national happiness. Multiple linear regression analysis was used to determine the influence of important variables on happiness scores across nations, including GDP, social support, healthy life expectancy, freedom to make life choices, generosity, and perception of corruption. To find out if high-income countries are significantly happier than low-income ones, countries were also categorized by income level  for hypothesis testing.</a:t>
            </a:r>
          </a:p>
          <a:p>
            <a:pPr algn="just">
              <a:buNone/>
            </a:pPr>
            <a:endParaRPr lang="en-US" sz="2200" dirty="0">
              <a:solidFill>
                <a:schemeClr val="bg2">
                  <a:lumMod val="50000"/>
                </a:schemeClr>
              </a:solidFill>
              <a:latin typeface="Calibri" panose="020F0502020204030204" pitchFamily="34" charset="0"/>
              <a:cs typeface="Calibri" panose="020F0502020204030204" pitchFamily="34" charset="0"/>
            </a:endParaRPr>
          </a:p>
          <a:p>
            <a:pPr algn="just">
              <a:buNone/>
            </a:pPr>
            <a:r>
              <a:rPr lang="en-US" sz="2200" dirty="0">
                <a:solidFill>
                  <a:schemeClr val="bg2">
                    <a:lumMod val="50000"/>
                  </a:schemeClr>
                </a:solidFill>
                <a:latin typeface="Calibri" panose="020F0502020204030204" pitchFamily="34" charset="0"/>
                <a:cs typeface="Calibri" panose="020F0502020204030204" pitchFamily="34" charset="0"/>
              </a:rPr>
              <a:t>According to the regression model, GDP, health, social support, freedom, generosity, and corruption were all significant predictors. With a low p-value, a hypothesis test employing the permutation method verified a statistically significant difference between high and low- income groups. </a:t>
            </a:r>
          </a:p>
          <a:p>
            <a:pPr algn="just">
              <a:buNone/>
            </a:pPr>
            <a:endParaRPr lang="en-US" sz="2200" dirty="0">
              <a:solidFill>
                <a:schemeClr val="bg2">
                  <a:lumMod val="50000"/>
                </a:schemeClr>
              </a:solidFill>
              <a:latin typeface="Calibri" panose="020F0502020204030204" pitchFamily="34" charset="0"/>
              <a:cs typeface="Calibri" panose="020F0502020204030204" pitchFamily="34" charset="0"/>
            </a:endParaRPr>
          </a:p>
          <a:p>
            <a:pPr algn="just">
              <a:buNone/>
            </a:pPr>
            <a:r>
              <a:rPr lang="en-US" sz="2200" dirty="0">
                <a:solidFill>
                  <a:schemeClr val="bg2">
                    <a:lumMod val="50000"/>
                  </a:schemeClr>
                </a:solidFill>
                <a:latin typeface="Calibri" panose="020F0502020204030204" pitchFamily="34" charset="0"/>
                <a:cs typeface="Calibri" panose="020F0502020204030204" pitchFamily="34" charset="0"/>
              </a:rPr>
              <a:t>The results imply that national circumstances and socioeconomic status both have a significant impact on happiness. Policymakers and development projects aimed at enhancing general well-being through financial and social investments can be guided by these ideas.</a:t>
            </a:r>
          </a:p>
        </p:txBody>
      </p:sp>
      <p:sp>
        <p:nvSpPr>
          <p:cNvPr id="5" name="Title 4">
            <a:extLst>
              <a:ext uri="{FF2B5EF4-FFF2-40B4-BE49-F238E27FC236}">
                <a16:creationId xmlns:a16="http://schemas.microsoft.com/office/drawing/2014/main" id="{96A36CD5-A40A-4EB8-881D-689EE0382756}"/>
              </a:ext>
            </a:extLst>
          </p:cNvPr>
          <p:cNvSpPr>
            <a:spLocks noGrp="1"/>
          </p:cNvSpPr>
          <p:nvPr>
            <p:ph type="ctrTitle"/>
          </p:nvPr>
        </p:nvSpPr>
        <p:spPr>
          <a:xfrm>
            <a:off x="583659" y="460882"/>
            <a:ext cx="10084341" cy="477837"/>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Abstract</a:t>
            </a:r>
          </a:p>
        </p:txBody>
      </p:sp>
    </p:spTree>
    <p:extLst>
      <p:ext uri="{BB962C8B-B14F-4D97-AF65-F5344CB8AC3E}">
        <p14:creationId xmlns:p14="http://schemas.microsoft.com/office/powerpoint/2010/main" val="46981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36492-4E45-984E-1EAE-29D74285947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40DF1BE-161C-A2E7-D562-7C844F26BA15}"/>
              </a:ext>
            </a:extLst>
          </p:cNvPr>
          <p:cNvSpPr>
            <a:spLocks noGrp="1"/>
          </p:cNvSpPr>
          <p:nvPr>
            <p:ph type="subTitle" idx="1"/>
          </p:nvPr>
        </p:nvSpPr>
        <p:spPr>
          <a:xfrm>
            <a:off x="583659" y="1070043"/>
            <a:ext cx="11050621" cy="5457217"/>
          </a:xfrm>
        </p:spPr>
        <p:txBody>
          <a:bodyPr>
            <a:normAutofit/>
          </a:bodyPr>
          <a:lstStyle/>
          <a:p>
            <a:pPr marL="342900" indent="-342900" algn="just">
              <a:buFont typeface="Arial" panose="020B0604020202020204" pitchFamily="34" charset="0"/>
              <a:buChar char="•"/>
            </a:pPr>
            <a:r>
              <a:rPr lang="en-US" dirty="0">
                <a:solidFill>
                  <a:schemeClr val="bg2">
                    <a:lumMod val="50000"/>
                  </a:schemeClr>
                </a:solidFill>
                <a:latin typeface="Calibri" panose="020F0502020204030204" pitchFamily="34" charset="0"/>
                <a:cs typeface="Calibri" panose="020F0502020204030204" pitchFamily="34" charset="0"/>
              </a:rPr>
              <a:t>Gallup World Poll surveys are used to gather the data for the World Happiness Report, a project of the Sustainable Development Solutions Network (SDSN)</a:t>
            </a:r>
          </a:p>
          <a:p>
            <a:pPr marL="342900" indent="-342900" algn="just">
              <a:buFont typeface="Arial" panose="020B0604020202020204" pitchFamily="34" charset="0"/>
              <a:buChar char="•"/>
            </a:pPr>
            <a:r>
              <a:rPr lang="en-US" dirty="0">
                <a:solidFill>
                  <a:schemeClr val="bg2">
                    <a:lumMod val="50000"/>
                  </a:schemeClr>
                </a:solidFill>
                <a:latin typeface="Calibri" panose="020F0502020204030204" pitchFamily="34" charset="0"/>
                <a:cs typeface="Calibri" panose="020F0502020204030204" pitchFamily="34" charset="0"/>
              </a:rPr>
              <a:t>Data is compiled from a variety of sources, such as economic data, government documents, and polls that rely on perceptions</a:t>
            </a:r>
          </a:p>
          <a:p>
            <a:pPr marL="342900" indent="-342900" algn="just">
              <a:buFont typeface="Arial" panose="020B0604020202020204" pitchFamily="34" charset="0"/>
              <a:buChar char="•"/>
            </a:pPr>
            <a:r>
              <a:rPr lang="en-US" dirty="0">
                <a:solidFill>
                  <a:schemeClr val="bg2">
                    <a:lumMod val="50000"/>
                  </a:schemeClr>
                </a:solidFill>
                <a:latin typeface="Calibri" panose="020F0502020204030204" pitchFamily="34" charset="0"/>
                <a:cs typeface="Calibri" panose="020F0502020204030204" pitchFamily="34" charset="0"/>
              </a:rPr>
              <a:t>The data source is available at: </a:t>
            </a:r>
            <a:r>
              <a:rPr lang="en-US" dirty="0">
                <a:solidFill>
                  <a:schemeClr val="bg2">
                    <a:lumMod val="50000"/>
                  </a:schemeClr>
                </a:solidFill>
                <a:latin typeface="Calibri" panose="020F0502020204030204" pitchFamily="34" charset="0"/>
                <a:cs typeface="Calibri" panose="020F0502020204030204" pitchFamily="34" charset="0"/>
                <a:hlinkClick r:id="rId2"/>
              </a:rPr>
              <a:t>https://worldhappiness.report/data-sharing/</a:t>
            </a:r>
            <a:r>
              <a:rPr lang="en-US" dirty="0">
                <a:solidFill>
                  <a:schemeClr val="bg2">
                    <a:lumMod val="50000"/>
                  </a:schemeClr>
                </a:solidFill>
                <a:latin typeface="Calibri" panose="020F0502020204030204" pitchFamily="34" charset="0"/>
                <a:cs typeface="Calibri" panose="020F0502020204030204" pitchFamily="34" charset="0"/>
              </a:rPr>
              <a:t> </a:t>
            </a:r>
          </a:p>
          <a:p>
            <a:pPr marL="342900" indent="-342900" algn="just">
              <a:buFont typeface="Arial" panose="020B0604020202020204" pitchFamily="34" charset="0"/>
              <a:buChar char="•"/>
            </a:pPr>
            <a:endParaRPr lang="en-US" sz="2800" dirty="0">
              <a:solidFill>
                <a:schemeClr val="bg2">
                  <a:lumMod val="50000"/>
                </a:schemeClr>
              </a:solidFill>
              <a:latin typeface="Calibri" panose="020F0502020204030204" pitchFamily="34" charset="0"/>
              <a:cs typeface="Calibri" panose="020F0502020204030204" pitchFamily="34" charset="0"/>
            </a:endParaRPr>
          </a:p>
        </p:txBody>
      </p:sp>
      <p:sp>
        <p:nvSpPr>
          <p:cNvPr id="5" name="Title 4">
            <a:extLst>
              <a:ext uri="{FF2B5EF4-FFF2-40B4-BE49-F238E27FC236}">
                <a16:creationId xmlns:a16="http://schemas.microsoft.com/office/drawing/2014/main" id="{CF21A436-0C45-26E3-FA88-CAD3FCC7AA7E}"/>
              </a:ext>
            </a:extLst>
          </p:cNvPr>
          <p:cNvSpPr>
            <a:spLocks noGrp="1"/>
          </p:cNvSpPr>
          <p:nvPr>
            <p:ph type="ctrTitle"/>
          </p:nvPr>
        </p:nvSpPr>
        <p:spPr>
          <a:xfrm>
            <a:off x="583659" y="460882"/>
            <a:ext cx="10084341" cy="477837"/>
          </a:xfrm>
        </p:spPr>
        <p:txBody>
          <a:bodyPr>
            <a:noAutofit/>
          </a:bodyPr>
          <a:lstStyle/>
          <a:p>
            <a:pPr algn="l"/>
            <a:r>
              <a:rPr lang="en-US" sz="3200" b="1" dirty="0">
                <a:solidFill>
                  <a:schemeClr val="bg2">
                    <a:lumMod val="25000"/>
                  </a:schemeClr>
                </a:solidFill>
              </a:rPr>
              <a:t>Data Collection</a:t>
            </a:r>
            <a:endParaRPr lang="en-US" sz="3200" b="1" dirty="0">
              <a:solidFill>
                <a:schemeClr val="bg2">
                  <a:lumMod val="25000"/>
                </a:schemeClr>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EECBF5B8-C8CD-1725-9DCF-3879470F63DA}"/>
              </a:ext>
            </a:extLst>
          </p:cNvPr>
          <p:cNvPicPr>
            <a:picLocks noChangeAspect="1"/>
          </p:cNvPicPr>
          <p:nvPr/>
        </p:nvPicPr>
        <p:blipFill>
          <a:blip r:embed="rId3"/>
          <a:stretch>
            <a:fillRect/>
          </a:stretch>
        </p:blipFill>
        <p:spPr>
          <a:xfrm>
            <a:off x="2129503" y="3239504"/>
            <a:ext cx="8162361" cy="3419080"/>
          </a:xfrm>
          <a:prstGeom prst="rect">
            <a:avLst/>
          </a:prstGeom>
        </p:spPr>
      </p:pic>
    </p:spTree>
    <p:extLst>
      <p:ext uri="{BB962C8B-B14F-4D97-AF65-F5344CB8AC3E}">
        <p14:creationId xmlns:p14="http://schemas.microsoft.com/office/powerpoint/2010/main" val="432039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1BDC-ED52-EAEB-D643-6719505B8C7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71FDC3E-FCA2-6A1D-AEC7-AA2009498318}"/>
              </a:ext>
            </a:extLst>
          </p:cNvPr>
          <p:cNvSpPr>
            <a:spLocks noGrp="1"/>
          </p:cNvSpPr>
          <p:nvPr>
            <p:ph type="subTitle" idx="1"/>
          </p:nvPr>
        </p:nvSpPr>
        <p:spPr>
          <a:xfrm>
            <a:off x="359924" y="5672407"/>
            <a:ext cx="11608340" cy="1001949"/>
          </a:xfrm>
        </p:spPr>
        <p:txBody>
          <a:bodyPr>
            <a:normAutofit/>
          </a:bodyPr>
          <a:lstStyle/>
          <a:p>
            <a:pPr marL="457200" indent="-457200" algn="just">
              <a:buFont typeface="Arial" panose="020B0604020202020204" pitchFamily="34" charset="0"/>
              <a:buChar char="•"/>
            </a:pPr>
            <a:r>
              <a:rPr lang="en-US" sz="2800" dirty="0">
                <a:solidFill>
                  <a:schemeClr val="bg2">
                    <a:lumMod val="50000"/>
                  </a:schemeClr>
                </a:solidFill>
                <a:latin typeface="Calibri" panose="020F0502020204030204" pitchFamily="34" charset="0"/>
                <a:cs typeface="Calibri" panose="020F0502020204030204" pitchFamily="34" charset="0"/>
              </a:rPr>
              <a:t>An individual's self-assessed rating of their current life on a scale from 0 (worst possible life) to 10 (best possible life), based on the </a:t>
            </a:r>
            <a:r>
              <a:rPr lang="en-US" sz="2800" dirty="0" err="1">
                <a:solidFill>
                  <a:schemeClr val="bg2">
                    <a:lumMod val="50000"/>
                  </a:schemeClr>
                </a:solidFill>
                <a:latin typeface="Calibri" panose="020F0502020204030204" pitchFamily="34" charset="0"/>
                <a:cs typeface="Calibri" panose="020F0502020204030204" pitchFamily="34" charset="0"/>
              </a:rPr>
              <a:t>Cantril</a:t>
            </a:r>
            <a:r>
              <a:rPr lang="en-US" sz="2800" dirty="0">
                <a:solidFill>
                  <a:schemeClr val="bg2">
                    <a:lumMod val="50000"/>
                  </a:schemeClr>
                </a:solidFill>
                <a:latin typeface="Calibri" panose="020F0502020204030204" pitchFamily="34" charset="0"/>
                <a:cs typeface="Calibri" panose="020F0502020204030204" pitchFamily="34" charset="0"/>
              </a:rPr>
              <a:t> ladder.</a:t>
            </a:r>
          </a:p>
        </p:txBody>
      </p:sp>
      <p:sp>
        <p:nvSpPr>
          <p:cNvPr id="5" name="Title 4">
            <a:extLst>
              <a:ext uri="{FF2B5EF4-FFF2-40B4-BE49-F238E27FC236}">
                <a16:creationId xmlns:a16="http://schemas.microsoft.com/office/drawing/2014/main" id="{A8967D37-58BF-925B-4514-6F999E4C39A3}"/>
              </a:ext>
            </a:extLst>
          </p:cNvPr>
          <p:cNvSpPr>
            <a:spLocks noGrp="1"/>
          </p:cNvSpPr>
          <p:nvPr>
            <p:ph type="ctrTitle"/>
          </p:nvPr>
        </p:nvSpPr>
        <p:spPr>
          <a:xfrm>
            <a:off x="583659" y="460882"/>
            <a:ext cx="10084341" cy="477837"/>
          </a:xfrm>
        </p:spPr>
        <p:txBody>
          <a:bodyPr>
            <a:noAutofit/>
          </a:bodyPr>
          <a:lstStyle/>
          <a:p>
            <a:pPr algn="l"/>
            <a:r>
              <a:rPr lang="en-US" sz="3200" b="1" dirty="0">
                <a:solidFill>
                  <a:schemeClr val="bg2">
                    <a:lumMod val="25000"/>
                  </a:schemeClr>
                </a:solidFill>
              </a:rPr>
              <a:t>Dependent Variable: Ladder score (Happiness Score)</a:t>
            </a:r>
            <a:endParaRPr lang="en-US" sz="3200" b="1" dirty="0">
              <a:solidFill>
                <a:schemeClr val="bg2">
                  <a:lumMod val="25000"/>
                </a:schemeClr>
              </a:solidFill>
              <a:latin typeface="Calibri" panose="020F0502020204030204" pitchFamily="34" charset="0"/>
              <a:cs typeface="Calibri" panose="020F0502020204030204" pitchFamily="34" charset="0"/>
            </a:endParaRPr>
          </a:p>
        </p:txBody>
      </p:sp>
      <p:pic>
        <p:nvPicPr>
          <p:cNvPr id="14" name="Picture 13" descr="A map of the world&#10;&#10;AI-generated content may be incorrect.">
            <a:extLst>
              <a:ext uri="{FF2B5EF4-FFF2-40B4-BE49-F238E27FC236}">
                <a16:creationId xmlns:a16="http://schemas.microsoft.com/office/drawing/2014/main" id="{5805835A-0007-35C4-85A8-3219FC593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304" y="1241731"/>
            <a:ext cx="11920695" cy="4277193"/>
          </a:xfrm>
          <a:prstGeom prst="rect">
            <a:avLst/>
          </a:prstGeom>
        </p:spPr>
      </p:pic>
    </p:spTree>
    <p:extLst>
      <p:ext uri="{BB962C8B-B14F-4D97-AF65-F5344CB8AC3E}">
        <p14:creationId xmlns:p14="http://schemas.microsoft.com/office/powerpoint/2010/main" val="3786615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E1DFF-09B4-E76B-5012-BA9BE615553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6BD706C-CD6E-EBAA-4371-53F8DAD21F7B}"/>
              </a:ext>
            </a:extLst>
          </p:cNvPr>
          <p:cNvSpPr>
            <a:spLocks noGrp="1"/>
          </p:cNvSpPr>
          <p:nvPr>
            <p:ph type="subTitle" idx="1"/>
          </p:nvPr>
        </p:nvSpPr>
        <p:spPr>
          <a:xfrm>
            <a:off x="359924" y="1060315"/>
            <a:ext cx="11608340" cy="5614041"/>
          </a:xfrm>
        </p:spPr>
        <p:txBody>
          <a:bodyPr>
            <a:normAutofit lnSpcReduction="10000"/>
          </a:bodyPr>
          <a:lstStyle/>
          <a:p>
            <a:pPr marL="342900" indent="-342900" algn="just">
              <a:spcAft>
                <a:spcPts val="750"/>
              </a:spcAft>
              <a:buFont typeface="Arial" panose="020B0604020202020204" pitchFamily="34" charset="0"/>
              <a:buChar char="•"/>
            </a:pPr>
            <a:r>
              <a:rPr lang="en-US" sz="2000" b="1" i="0" dirty="0">
                <a:solidFill>
                  <a:schemeClr val="bg2">
                    <a:lumMod val="50000"/>
                  </a:schemeClr>
                </a:solidFill>
                <a:effectLst/>
                <a:latin typeface="Helvetica Neue"/>
              </a:rPr>
              <a:t>Country name: </a:t>
            </a:r>
            <a:r>
              <a:rPr lang="en-US" sz="2000" b="0" i="0" dirty="0">
                <a:solidFill>
                  <a:schemeClr val="bg2">
                    <a:lumMod val="50000"/>
                  </a:schemeClr>
                </a:solidFill>
                <a:effectLst/>
                <a:latin typeface="Helvetica Neue"/>
              </a:rPr>
              <a:t>List of the country involved</a:t>
            </a:r>
          </a:p>
          <a:p>
            <a:pPr marL="342900" indent="-342900" algn="just">
              <a:spcAft>
                <a:spcPts val="750"/>
              </a:spcAft>
              <a:buFont typeface="Arial" panose="020B0604020202020204" pitchFamily="34" charset="0"/>
              <a:buChar char="•"/>
            </a:pPr>
            <a:r>
              <a:rPr lang="en-US" sz="2000" b="1" i="0" dirty="0">
                <a:solidFill>
                  <a:schemeClr val="bg2">
                    <a:lumMod val="50000"/>
                  </a:schemeClr>
                </a:solidFill>
                <a:effectLst/>
                <a:latin typeface="Helvetica Neue"/>
              </a:rPr>
              <a:t>Year:</a:t>
            </a:r>
            <a:r>
              <a:rPr lang="en-US" sz="2000" b="0" i="0" dirty="0">
                <a:solidFill>
                  <a:schemeClr val="bg2">
                    <a:lumMod val="50000"/>
                  </a:schemeClr>
                </a:solidFill>
                <a:effectLst/>
                <a:latin typeface="Helvetica Neue"/>
              </a:rPr>
              <a:t> Year the data was conducted</a:t>
            </a:r>
          </a:p>
          <a:p>
            <a:pPr marL="342900" indent="-342900" algn="just">
              <a:spcAft>
                <a:spcPts val="750"/>
              </a:spcAft>
              <a:buFont typeface="Arial" panose="020B0604020202020204" pitchFamily="34" charset="0"/>
              <a:buChar char="•"/>
            </a:pPr>
            <a:r>
              <a:rPr lang="en-US" sz="2000" b="1" i="0" dirty="0">
                <a:solidFill>
                  <a:schemeClr val="bg2">
                    <a:lumMod val="50000"/>
                  </a:schemeClr>
                </a:solidFill>
                <a:effectLst/>
                <a:latin typeface="Helvetica Neue"/>
              </a:rPr>
              <a:t>Rank:</a:t>
            </a:r>
            <a:r>
              <a:rPr lang="en-US" sz="2000" b="0" i="0" dirty="0">
                <a:solidFill>
                  <a:schemeClr val="bg2">
                    <a:lumMod val="50000"/>
                  </a:schemeClr>
                </a:solidFill>
                <a:effectLst/>
                <a:latin typeface="Helvetica Neue"/>
              </a:rPr>
              <a:t> A country's position in the global happiness list based on its average life evaluation (Life Ladder) score for a given year</a:t>
            </a:r>
          </a:p>
          <a:p>
            <a:pPr marL="342900" indent="-342900" algn="just">
              <a:spcAft>
                <a:spcPts val="750"/>
              </a:spcAft>
              <a:buFont typeface="Arial" panose="020B0604020202020204" pitchFamily="34" charset="0"/>
              <a:buChar char="•"/>
            </a:pPr>
            <a:r>
              <a:rPr lang="en-US" sz="2000" b="1" i="0" dirty="0">
                <a:solidFill>
                  <a:schemeClr val="bg2">
                    <a:lumMod val="50000"/>
                  </a:schemeClr>
                </a:solidFill>
                <a:effectLst/>
                <a:latin typeface="Helvetica Neue"/>
              </a:rPr>
              <a:t>Log GDP per capita: </a:t>
            </a:r>
            <a:r>
              <a:rPr lang="en-US" sz="2000" b="0" i="0" dirty="0">
                <a:solidFill>
                  <a:schemeClr val="bg2">
                    <a:lumMod val="50000"/>
                  </a:schemeClr>
                </a:solidFill>
                <a:effectLst/>
                <a:latin typeface="Helvetica Neue"/>
              </a:rPr>
              <a:t>Gross Domestic Product, or how much each country produces, divided by the number of people in the country. Information about the strength of a nation’s economy</a:t>
            </a:r>
          </a:p>
          <a:p>
            <a:pPr marL="342900" indent="-342900" algn="just">
              <a:spcAft>
                <a:spcPts val="750"/>
              </a:spcAft>
              <a:buFont typeface="Arial" panose="020B0604020202020204" pitchFamily="34" charset="0"/>
              <a:buChar char="•"/>
            </a:pPr>
            <a:r>
              <a:rPr lang="en-US" sz="2000" b="1" i="0" dirty="0">
                <a:solidFill>
                  <a:schemeClr val="bg2">
                    <a:lumMod val="50000"/>
                  </a:schemeClr>
                </a:solidFill>
                <a:effectLst/>
                <a:latin typeface="Helvetica Neue"/>
              </a:rPr>
              <a:t>Social support: </a:t>
            </a:r>
            <a:r>
              <a:rPr lang="en-US" sz="2000" b="0" i="0" dirty="0">
                <a:solidFill>
                  <a:schemeClr val="bg2">
                    <a:lumMod val="50000"/>
                  </a:schemeClr>
                </a:solidFill>
                <a:effectLst/>
                <a:latin typeface="Helvetica Neue"/>
              </a:rPr>
              <a:t>Dependency on someone in times of trouble</a:t>
            </a:r>
          </a:p>
          <a:p>
            <a:pPr marL="342900" indent="-342900" algn="just">
              <a:spcAft>
                <a:spcPts val="750"/>
              </a:spcAft>
              <a:buFont typeface="Arial" panose="020B0604020202020204" pitchFamily="34" charset="0"/>
              <a:buChar char="•"/>
            </a:pPr>
            <a:r>
              <a:rPr lang="en-US" sz="2000" b="1" i="0" dirty="0">
                <a:solidFill>
                  <a:schemeClr val="bg2">
                    <a:lumMod val="50000"/>
                  </a:schemeClr>
                </a:solidFill>
                <a:effectLst/>
                <a:latin typeface="Helvetica Neue"/>
              </a:rPr>
              <a:t>Healthy life expectancy: </a:t>
            </a:r>
            <a:r>
              <a:rPr lang="en-US" sz="2000" b="0" i="0" dirty="0">
                <a:solidFill>
                  <a:schemeClr val="bg2">
                    <a:lumMod val="50000"/>
                  </a:schemeClr>
                </a:solidFill>
                <a:effectLst/>
                <a:latin typeface="Helvetica Neue"/>
              </a:rPr>
              <a:t>Number of years an individual is expected to live in good health which combines both the length of life and the quality of life.</a:t>
            </a:r>
          </a:p>
          <a:p>
            <a:pPr marL="342900" indent="-342900" algn="just">
              <a:spcAft>
                <a:spcPts val="750"/>
              </a:spcAft>
              <a:buFont typeface="Arial" panose="020B0604020202020204" pitchFamily="34" charset="0"/>
              <a:buChar char="•"/>
            </a:pPr>
            <a:r>
              <a:rPr lang="en-US" sz="2000" b="1" i="0" dirty="0">
                <a:solidFill>
                  <a:schemeClr val="bg2">
                    <a:lumMod val="50000"/>
                  </a:schemeClr>
                </a:solidFill>
                <a:effectLst/>
                <a:latin typeface="Helvetica Neue"/>
              </a:rPr>
              <a:t>Freedom to make life choices: </a:t>
            </a:r>
            <a:r>
              <a:rPr lang="en-US" sz="2000" b="0" i="0" dirty="0">
                <a:solidFill>
                  <a:schemeClr val="bg2">
                    <a:lumMod val="50000"/>
                  </a:schemeClr>
                </a:solidFill>
                <a:effectLst/>
                <a:latin typeface="Helvetica Neue"/>
              </a:rPr>
              <a:t>Right to life and liberty, freedom from slavery and torture, freedom of opinion and expression, the right to work and education</a:t>
            </a:r>
          </a:p>
          <a:p>
            <a:pPr marL="342900" indent="-342900" algn="just">
              <a:spcAft>
                <a:spcPts val="750"/>
              </a:spcAft>
              <a:buFont typeface="Arial" panose="020B0604020202020204" pitchFamily="34" charset="0"/>
              <a:buChar char="•"/>
            </a:pPr>
            <a:r>
              <a:rPr lang="en-US" sz="2000" b="1" i="0" dirty="0">
                <a:solidFill>
                  <a:schemeClr val="bg2">
                    <a:lumMod val="50000"/>
                  </a:schemeClr>
                </a:solidFill>
                <a:effectLst/>
                <a:latin typeface="Helvetica Neue"/>
              </a:rPr>
              <a:t>Generosity:</a:t>
            </a:r>
            <a:r>
              <a:rPr lang="en-US" sz="2000" b="0" i="0" dirty="0">
                <a:solidFill>
                  <a:schemeClr val="bg2">
                    <a:lumMod val="50000"/>
                  </a:schemeClr>
                </a:solidFill>
                <a:effectLst/>
                <a:latin typeface="Helvetica Neue"/>
              </a:rPr>
              <a:t> Charity, donation and community engagement</a:t>
            </a:r>
          </a:p>
          <a:p>
            <a:pPr marL="342900" indent="-342900" algn="just">
              <a:spcAft>
                <a:spcPts val="750"/>
              </a:spcAft>
              <a:buFont typeface="Arial" panose="020B0604020202020204" pitchFamily="34" charset="0"/>
              <a:buChar char="•"/>
            </a:pPr>
            <a:r>
              <a:rPr lang="en-US" sz="2000" b="1" i="0" dirty="0">
                <a:solidFill>
                  <a:schemeClr val="bg2">
                    <a:lumMod val="50000"/>
                  </a:schemeClr>
                </a:solidFill>
                <a:effectLst/>
                <a:latin typeface="Helvetica Neue"/>
              </a:rPr>
              <a:t>Perception of corruption: </a:t>
            </a:r>
            <a:r>
              <a:rPr lang="en-US" sz="2000" b="0" i="0" dirty="0">
                <a:solidFill>
                  <a:schemeClr val="bg2">
                    <a:lumMod val="50000"/>
                  </a:schemeClr>
                </a:solidFill>
                <a:effectLst/>
                <a:latin typeface="Helvetica Neue"/>
              </a:rPr>
              <a:t>The perception of government corruption, business corruption and individual corruption</a:t>
            </a:r>
          </a:p>
          <a:p>
            <a:pPr algn="just">
              <a:spcAft>
                <a:spcPts val="750"/>
              </a:spcAft>
            </a:pPr>
            <a:endParaRPr lang="en-US" sz="2000" b="0" i="0" dirty="0">
              <a:solidFill>
                <a:srgbClr val="333333"/>
              </a:solidFill>
              <a:effectLst/>
              <a:latin typeface="Helvetica Neue"/>
            </a:endParaRPr>
          </a:p>
        </p:txBody>
      </p:sp>
      <p:sp>
        <p:nvSpPr>
          <p:cNvPr id="5" name="Title 4">
            <a:extLst>
              <a:ext uri="{FF2B5EF4-FFF2-40B4-BE49-F238E27FC236}">
                <a16:creationId xmlns:a16="http://schemas.microsoft.com/office/drawing/2014/main" id="{99DC5FB0-B5E2-10CB-3E01-5A6BB67EDC39}"/>
              </a:ext>
            </a:extLst>
          </p:cNvPr>
          <p:cNvSpPr>
            <a:spLocks noGrp="1"/>
          </p:cNvSpPr>
          <p:nvPr>
            <p:ph type="ctrTitle"/>
          </p:nvPr>
        </p:nvSpPr>
        <p:spPr>
          <a:xfrm>
            <a:off x="583659" y="460882"/>
            <a:ext cx="10084341" cy="477837"/>
          </a:xfrm>
        </p:spPr>
        <p:txBody>
          <a:bodyPr>
            <a:noAutofit/>
          </a:bodyPr>
          <a:lstStyle/>
          <a:p>
            <a:pPr algn="l"/>
            <a:r>
              <a:rPr lang="en-US" sz="3200" b="1" dirty="0">
                <a:solidFill>
                  <a:schemeClr val="bg2">
                    <a:lumMod val="25000"/>
                  </a:schemeClr>
                </a:solidFill>
              </a:rPr>
              <a:t>Independent Variables </a:t>
            </a:r>
            <a:endParaRPr lang="en-US" sz="3200" b="1" dirty="0">
              <a:solidFill>
                <a:schemeClr val="bg2">
                  <a:lumMod val="2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826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81EB2-2F9A-E834-9A3A-DA8383E13C6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41F29A5-0076-2E3D-F7BE-2E14C185E120}"/>
              </a:ext>
            </a:extLst>
          </p:cNvPr>
          <p:cNvSpPr>
            <a:spLocks noGrp="1"/>
          </p:cNvSpPr>
          <p:nvPr>
            <p:ph type="subTitle" idx="1"/>
          </p:nvPr>
        </p:nvSpPr>
        <p:spPr>
          <a:xfrm>
            <a:off x="359924" y="1741251"/>
            <a:ext cx="11608340" cy="4933105"/>
          </a:xfrm>
        </p:spPr>
        <p:txBody>
          <a:bodyPr>
            <a:normAutofit/>
          </a:bodyPr>
          <a:lstStyle/>
          <a:p>
            <a:pPr marL="457200" indent="-457200" algn="just">
              <a:spcAft>
                <a:spcPts val="750"/>
              </a:spcAft>
              <a:buFont typeface="+mj-lt"/>
              <a:buAutoNum type="arabicPeriod"/>
            </a:pPr>
            <a:r>
              <a:rPr lang="en-US" i="0" dirty="0">
                <a:solidFill>
                  <a:schemeClr val="bg2">
                    <a:lumMod val="50000"/>
                  </a:schemeClr>
                </a:solidFill>
                <a:effectLst/>
                <a:latin typeface="Helvetica Neue"/>
              </a:rPr>
              <a:t>How do economic, social, and governance factors influence national happiness scores across countries?</a:t>
            </a:r>
          </a:p>
          <a:p>
            <a:pPr marL="457200" indent="-457200" algn="just">
              <a:spcAft>
                <a:spcPts val="750"/>
              </a:spcAft>
              <a:buFont typeface="+mj-lt"/>
              <a:buAutoNum type="arabicPeriod"/>
            </a:pPr>
            <a:r>
              <a:rPr lang="en-US" i="0" dirty="0">
                <a:solidFill>
                  <a:schemeClr val="bg2">
                    <a:lumMod val="50000"/>
                  </a:schemeClr>
                </a:solidFill>
                <a:effectLst/>
                <a:latin typeface="Helvetica Neue"/>
              </a:rPr>
              <a:t>Is there a significant difference in happiness scores between high-income and low-income countries?</a:t>
            </a:r>
            <a:endParaRPr lang="en-US" i="0" dirty="0">
              <a:solidFill>
                <a:srgbClr val="333333"/>
              </a:solidFill>
              <a:effectLst/>
              <a:latin typeface="Helvetica Neue"/>
            </a:endParaRPr>
          </a:p>
        </p:txBody>
      </p:sp>
      <p:sp>
        <p:nvSpPr>
          <p:cNvPr id="5" name="Title 4">
            <a:extLst>
              <a:ext uri="{FF2B5EF4-FFF2-40B4-BE49-F238E27FC236}">
                <a16:creationId xmlns:a16="http://schemas.microsoft.com/office/drawing/2014/main" id="{AA08C84E-C314-6829-04B8-58B49DFD374B}"/>
              </a:ext>
            </a:extLst>
          </p:cNvPr>
          <p:cNvSpPr>
            <a:spLocks noGrp="1"/>
          </p:cNvSpPr>
          <p:nvPr>
            <p:ph type="ctrTitle"/>
          </p:nvPr>
        </p:nvSpPr>
        <p:spPr>
          <a:xfrm>
            <a:off x="525293" y="713801"/>
            <a:ext cx="10084341" cy="477837"/>
          </a:xfrm>
        </p:spPr>
        <p:txBody>
          <a:bodyPr>
            <a:noAutofit/>
          </a:bodyPr>
          <a:lstStyle/>
          <a:p>
            <a:pPr algn="l"/>
            <a:r>
              <a:rPr lang="en-US" sz="3200" b="1" dirty="0">
                <a:solidFill>
                  <a:schemeClr val="bg2">
                    <a:lumMod val="25000"/>
                  </a:schemeClr>
                </a:solidFill>
              </a:rPr>
              <a:t>Research Question</a:t>
            </a:r>
            <a:endParaRPr lang="en-US" sz="3200" b="1" dirty="0">
              <a:solidFill>
                <a:schemeClr val="bg2">
                  <a:lumMod val="2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12813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8CEA7-9C85-EE67-6D11-E1270FAB77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D2B5012-78B1-13EA-67CB-F24499A3332D}"/>
              </a:ext>
            </a:extLst>
          </p:cNvPr>
          <p:cNvSpPr>
            <a:spLocks noGrp="1"/>
          </p:cNvSpPr>
          <p:nvPr>
            <p:ph type="ctrTitle"/>
          </p:nvPr>
        </p:nvSpPr>
        <p:spPr>
          <a:xfrm>
            <a:off x="535341" y="301819"/>
            <a:ext cx="10084341" cy="477837"/>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Correlation Matrix and Distribution</a:t>
            </a:r>
          </a:p>
        </p:txBody>
      </p:sp>
      <p:pic>
        <p:nvPicPr>
          <p:cNvPr id="11" name="Picture 10" descr="A screenshot of a graph&#10;&#10;AI-generated content may be incorrect.">
            <a:extLst>
              <a:ext uri="{FF2B5EF4-FFF2-40B4-BE49-F238E27FC236}">
                <a16:creationId xmlns:a16="http://schemas.microsoft.com/office/drawing/2014/main" id="{2D14C766-B0C3-7189-A989-17B1BD109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5468" y="916594"/>
            <a:ext cx="7621064" cy="5639587"/>
          </a:xfrm>
          <a:prstGeom prst="rect">
            <a:avLst/>
          </a:prstGeom>
        </p:spPr>
      </p:pic>
    </p:spTree>
    <p:extLst>
      <p:ext uri="{BB962C8B-B14F-4D97-AF65-F5344CB8AC3E}">
        <p14:creationId xmlns:p14="http://schemas.microsoft.com/office/powerpoint/2010/main" val="3004557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F6F1F-5A5A-A89D-B18B-428597F3C45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99C6FCC-58B0-388A-6928-BC83B6F03EA0}"/>
              </a:ext>
            </a:extLst>
          </p:cNvPr>
          <p:cNvSpPr>
            <a:spLocks noGrp="1"/>
          </p:cNvSpPr>
          <p:nvPr>
            <p:ph type="ctrTitle"/>
          </p:nvPr>
        </p:nvSpPr>
        <p:spPr>
          <a:xfrm>
            <a:off x="535342" y="301819"/>
            <a:ext cx="8599606" cy="990487"/>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Linear Model Summary &amp; Diagnosis: </a:t>
            </a:r>
            <a:br>
              <a:rPr lang="en-US" sz="3200" b="1" dirty="0">
                <a:solidFill>
                  <a:schemeClr val="bg2">
                    <a:lumMod val="25000"/>
                  </a:schemeClr>
                </a:solidFill>
                <a:latin typeface="Calibri" panose="020F0502020204030204" pitchFamily="34" charset="0"/>
                <a:cs typeface="Calibri" panose="020F0502020204030204" pitchFamily="34" charset="0"/>
              </a:rPr>
            </a:br>
            <a:r>
              <a:rPr lang="en-US" sz="3200" b="1" dirty="0">
                <a:solidFill>
                  <a:schemeClr val="bg2">
                    <a:lumMod val="25000"/>
                  </a:schemeClr>
                </a:solidFill>
                <a:latin typeface="Calibri" panose="020F0502020204030204" pitchFamily="34" charset="0"/>
                <a:cs typeface="Calibri" panose="020F0502020204030204" pitchFamily="34" charset="0"/>
              </a:rPr>
              <a:t>GDP vs. Happiness Score</a:t>
            </a:r>
          </a:p>
        </p:txBody>
      </p:sp>
      <p:pic>
        <p:nvPicPr>
          <p:cNvPr id="3" name="Picture 2" descr="A collage of graphs and diagrams&#10;&#10;AI-generated content may be incorrect.">
            <a:extLst>
              <a:ext uri="{FF2B5EF4-FFF2-40B4-BE49-F238E27FC236}">
                <a16:creationId xmlns:a16="http://schemas.microsoft.com/office/drawing/2014/main" id="{25EAAAE3-6E9F-CEB1-BDD3-922C7DBE67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4293" y="1292306"/>
            <a:ext cx="6019178" cy="4454192"/>
          </a:xfrm>
          <a:prstGeom prst="rect">
            <a:avLst/>
          </a:prstGeom>
        </p:spPr>
      </p:pic>
      <p:pic>
        <p:nvPicPr>
          <p:cNvPr id="6" name="Picture 5">
            <a:extLst>
              <a:ext uri="{FF2B5EF4-FFF2-40B4-BE49-F238E27FC236}">
                <a16:creationId xmlns:a16="http://schemas.microsoft.com/office/drawing/2014/main" id="{4376C319-EF5D-7BA9-0DA6-5299DD41E671}"/>
              </a:ext>
            </a:extLst>
          </p:cNvPr>
          <p:cNvPicPr>
            <a:picLocks noChangeAspect="1"/>
          </p:cNvPicPr>
          <p:nvPr/>
        </p:nvPicPr>
        <p:blipFill>
          <a:blip r:embed="rId4"/>
          <a:stretch>
            <a:fillRect/>
          </a:stretch>
        </p:blipFill>
        <p:spPr>
          <a:xfrm>
            <a:off x="535341" y="2041337"/>
            <a:ext cx="5408471" cy="2900313"/>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FC21F1AC-408B-65DB-06B8-2EDF973D617B}"/>
                  </a:ext>
                </a:extLst>
              </p14:cNvPr>
              <p14:cNvContentPartPr/>
              <p14:nvPr/>
            </p14:nvContentPartPr>
            <p14:xfrm>
              <a:off x="5006303" y="4616505"/>
              <a:ext cx="488160" cy="18720"/>
            </p14:xfrm>
          </p:contentPart>
        </mc:Choice>
        <mc:Fallback xmlns="">
          <p:pic>
            <p:nvPicPr>
              <p:cNvPr id="2" name="Ink 1">
                <a:extLst>
                  <a:ext uri="{FF2B5EF4-FFF2-40B4-BE49-F238E27FC236}">
                    <a16:creationId xmlns:a16="http://schemas.microsoft.com/office/drawing/2014/main" id="{FC21F1AC-408B-65DB-06B8-2EDF973D617B}"/>
                  </a:ext>
                </a:extLst>
              </p:cNvPr>
              <p:cNvPicPr/>
              <p:nvPr/>
            </p:nvPicPr>
            <p:blipFill>
              <a:blip r:embed="rId6"/>
              <a:stretch>
                <a:fillRect/>
              </a:stretch>
            </p:blipFill>
            <p:spPr>
              <a:xfrm>
                <a:off x="4952663" y="4508505"/>
                <a:ext cx="595800" cy="234360"/>
              </a:xfrm>
              <a:prstGeom prst="rect">
                <a:avLst/>
              </a:prstGeom>
            </p:spPr>
          </p:pic>
        </mc:Fallback>
      </mc:AlternateContent>
    </p:spTree>
    <p:extLst>
      <p:ext uri="{BB962C8B-B14F-4D97-AF65-F5344CB8AC3E}">
        <p14:creationId xmlns:p14="http://schemas.microsoft.com/office/powerpoint/2010/main" val="3618532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09568-C45E-1DC6-2884-0CC979E89D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636280E-1294-3BD5-A9C6-94CDDBA79856}"/>
              </a:ext>
            </a:extLst>
          </p:cNvPr>
          <p:cNvSpPr>
            <a:spLocks noGrp="1"/>
          </p:cNvSpPr>
          <p:nvPr>
            <p:ph type="ctrTitle"/>
          </p:nvPr>
        </p:nvSpPr>
        <p:spPr>
          <a:xfrm>
            <a:off x="535342" y="301819"/>
            <a:ext cx="10274496" cy="990487"/>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Linear Model Summary &amp; Diagnosis: </a:t>
            </a:r>
            <a:br>
              <a:rPr lang="en-US" sz="3200" b="1" dirty="0">
                <a:solidFill>
                  <a:schemeClr val="bg2">
                    <a:lumMod val="25000"/>
                  </a:schemeClr>
                </a:solidFill>
                <a:latin typeface="Calibri" panose="020F0502020204030204" pitchFamily="34" charset="0"/>
                <a:cs typeface="Calibri" panose="020F0502020204030204" pitchFamily="34" charset="0"/>
              </a:rPr>
            </a:br>
            <a:r>
              <a:rPr lang="en-US" sz="3200" b="1" dirty="0">
                <a:solidFill>
                  <a:schemeClr val="bg2">
                    <a:lumMod val="25000"/>
                  </a:schemeClr>
                </a:solidFill>
                <a:latin typeface="Calibri" panose="020F0502020204030204" pitchFamily="34" charset="0"/>
                <a:cs typeface="Calibri" panose="020F0502020204030204" pitchFamily="34" charset="0"/>
              </a:rPr>
              <a:t>Social Support vs. Happiness Score</a:t>
            </a:r>
          </a:p>
        </p:txBody>
      </p:sp>
      <p:pic>
        <p:nvPicPr>
          <p:cNvPr id="4" name="Picture 3">
            <a:extLst>
              <a:ext uri="{FF2B5EF4-FFF2-40B4-BE49-F238E27FC236}">
                <a16:creationId xmlns:a16="http://schemas.microsoft.com/office/drawing/2014/main" id="{96B34068-BCFF-D6F6-D98F-CB6CA197C63D}"/>
              </a:ext>
            </a:extLst>
          </p:cNvPr>
          <p:cNvPicPr>
            <a:picLocks noChangeAspect="1"/>
          </p:cNvPicPr>
          <p:nvPr/>
        </p:nvPicPr>
        <p:blipFill>
          <a:blip r:embed="rId3"/>
          <a:stretch>
            <a:fillRect/>
          </a:stretch>
        </p:blipFill>
        <p:spPr>
          <a:xfrm>
            <a:off x="252307" y="1864519"/>
            <a:ext cx="5681769" cy="3128962"/>
          </a:xfrm>
          <a:prstGeom prst="rect">
            <a:avLst/>
          </a:prstGeom>
        </p:spPr>
      </p:pic>
      <p:pic>
        <p:nvPicPr>
          <p:cNvPr id="8" name="Picture 7">
            <a:extLst>
              <a:ext uri="{FF2B5EF4-FFF2-40B4-BE49-F238E27FC236}">
                <a16:creationId xmlns:a16="http://schemas.microsoft.com/office/drawing/2014/main" id="{FCF2E863-5EE6-A3BF-1683-6B0EC501616C}"/>
              </a:ext>
            </a:extLst>
          </p:cNvPr>
          <p:cNvPicPr>
            <a:picLocks noChangeAspect="1"/>
          </p:cNvPicPr>
          <p:nvPr/>
        </p:nvPicPr>
        <p:blipFill>
          <a:blip r:embed="rId4"/>
          <a:stretch>
            <a:fillRect/>
          </a:stretch>
        </p:blipFill>
        <p:spPr>
          <a:xfrm>
            <a:off x="6257925" y="1292306"/>
            <a:ext cx="5495926" cy="5237598"/>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7D7EF22E-BE7C-E226-B098-997B7AED5560}"/>
                  </a:ext>
                </a:extLst>
              </p14:cNvPr>
              <p14:cNvContentPartPr/>
              <p14:nvPr/>
            </p14:nvContentPartPr>
            <p14:xfrm>
              <a:off x="5024303" y="4653225"/>
              <a:ext cx="515520" cy="36720"/>
            </p14:xfrm>
          </p:contentPart>
        </mc:Choice>
        <mc:Fallback xmlns="">
          <p:pic>
            <p:nvPicPr>
              <p:cNvPr id="9" name="Ink 8">
                <a:extLst>
                  <a:ext uri="{FF2B5EF4-FFF2-40B4-BE49-F238E27FC236}">
                    <a16:creationId xmlns:a16="http://schemas.microsoft.com/office/drawing/2014/main" id="{7D7EF22E-BE7C-E226-B098-997B7AED5560}"/>
                  </a:ext>
                </a:extLst>
              </p:cNvPr>
              <p:cNvPicPr/>
              <p:nvPr/>
            </p:nvPicPr>
            <p:blipFill>
              <a:blip r:embed="rId6"/>
              <a:stretch>
                <a:fillRect/>
              </a:stretch>
            </p:blipFill>
            <p:spPr>
              <a:xfrm>
                <a:off x="4970663" y="4545585"/>
                <a:ext cx="623160" cy="252360"/>
              </a:xfrm>
              <a:prstGeom prst="rect">
                <a:avLst/>
              </a:prstGeom>
            </p:spPr>
          </p:pic>
        </mc:Fallback>
      </mc:AlternateContent>
    </p:spTree>
    <p:extLst>
      <p:ext uri="{BB962C8B-B14F-4D97-AF65-F5344CB8AC3E}">
        <p14:creationId xmlns:p14="http://schemas.microsoft.com/office/powerpoint/2010/main" val="388610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F74A1-BC01-3F39-88FD-0258556B45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9F3317B-1813-6963-ADA9-4E40C2CDA21C}"/>
              </a:ext>
            </a:extLst>
          </p:cNvPr>
          <p:cNvSpPr>
            <a:spLocks noGrp="1"/>
          </p:cNvSpPr>
          <p:nvPr>
            <p:ph type="ctrTitle"/>
          </p:nvPr>
        </p:nvSpPr>
        <p:spPr>
          <a:xfrm>
            <a:off x="535342" y="301819"/>
            <a:ext cx="10274496" cy="990487"/>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Linear Model Summary &amp; Diagnosis:</a:t>
            </a:r>
            <a:br>
              <a:rPr lang="en-US" sz="3200" b="1" dirty="0">
                <a:solidFill>
                  <a:schemeClr val="bg2">
                    <a:lumMod val="25000"/>
                  </a:schemeClr>
                </a:solidFill>
                <a:latin typeface="Calibri" panose="020F0502020204030204" pitchFamily="34" charset="0"/>
                <a:cs typeface="Calibri" panose="020F0502020204030204" pitchFamily="34" charset="0"/>
              </a:rPr>
            </a:br>
            <a:r>
              <a:rPr lang="en-US" sz="3200" b="1" dirty="0">
                <a:solidFill>
                  <a:schemeClr val="bg2">
                    <a:lumMod val="25000"/>
                  </a:schemeClr>
                </a:solidFill>
                <a:latin typeface="Calibri" panose="020F0502020204030204" pitchFamily="34" charset="0"/>
                <a:cs typeface="Calibri" panose="020F0502020204030204" pitchFamily="34" charset="0"/>
              </a:rPr>
              <a:t>Health vs. Happiness Score</a:t>
            </a:r>
          </a:p>
        </p:txBody>
      </p:sp>
      <p:pic>
        <p:nvPicPr>
          <p:cNvPr id="3" name="Picture 2">
            <a:extLst>
              <a:ext uri="{FF2B5EF4-FFF2-40B4-BE49-F238E27FC236}">
                <a16:creationId xmlns:a16="http://schemas.microsoft.com/office/drawing/2014/main" id="{D9B5640E-1265-D659-AA35-176E0AF40CAA}"/>
              </a:ext>
            </a:extLst>
          </p:cNvPr>
          <p:cNvPicPr>
            <a:picLocks noChangeAspect="1"/>
          </p:cNvPicPr>
          <p:nvPr/>
        </p:nvPicPr>
        <p:blipFill>
          <a:blip r:embed="rId3"/>
          <a:stretch>
            <a:fillRect/>
          </a:stretch>
        </p:blipFill>
        <p:spPr>
          <a:xfrm>
            <a:off x="438149" y="1817440"/>
            <a:ext cx="5592025" cy="3223120"/>
          </a:xfrm>
          <a:prstGeom prst="rect">
            <a:avLst/>
          </a:prstGeom>
        </p:spPr>
      </p:pic>
      <p:pic>
        <p:nvPicPr>
          <p:cNvPr id="7" name="Picture 6">
            <a:extLst>
              <a:ext uri="{FF2B5EF4-FFF2-40B4-BE49-F238E27FC236}">
                <a16:creationId xmlns:a16="http://schemas.microsoft.com/office/drawing/2014/main" id="{5BD59944-0E8C-8F0C-B9F7-2075040909BC}"/>
              </a:ext>
            </a:extLst>
          </p:cNvPr>
          <p:cNvPicPr>
            <a:picLocks noChangeAspect="1"/>
          </p:cNvPicPr>
          <p:nvPr/>
        </p:nvPicPr>
        <p:blipFill>
          <a:blip r:embed="rId4"/>
          <a:stretch>
            <a:fillRect/>
          </a:stretch>
        </p:blipFill>
        <p:spPr>
          <a:xfrm>
            <a:off x="6161825" y="1292306"/>
            <a:ext cx="5592026" cy="5412922"/>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109DB96B-70EA-82E0-F243-73B0AF6B5336}"/>
                  </a:ext>
                </a:extLst>
              </p14:cNvPr>
              <p14:cNvContentPartPr/>
              <p14:nvPr/>
            </p14:nvContentPartPr>
            <p14:xfrm>
              <a:off x="5142023" y="4601385"/>
              <a:ext cx="492120" cy="34200"/>
            </p14:xfrm>
          </p:contentPart>
        </mc:Choice>
        <mc:Fallback xmlns="">
          <p:pic>
            <p:nvPicPr>
              <p:cNvPr id="9" name="Ink 8">
                <a:extLst>
                  <a:ext uri="{FF2B5EF4-FFF2-40B4-BE49-F238E27FC236}">
                    <a16:creationId xmlns:a16="http://schemas.microsoft.com/office/drawing/2014/main" id="{109DB96B-70EA-82E0-F243-73B0AF6B5336}"/>
                  </a:ext>
                </a:extLst>
              </p:cNvPr>
              <p:cNvPicPr/>
              <p:nvPr/>
            </p:nvPicPr>
            <p:blipFill>
              <a:blip r:embed="rId6"/>
              <a:stretch>
                <a:fillRect/>
              </a:stretch>
            </p:blipFill>
            <p:spPr>
              <a:xfrm>
                <a:off x="5088023" y="4493385"/>
                <a:ext cx="599760" cy="249840"/>
              </a:xfrm>
              <a:prstGeom prst="rect">
                <a:avLst/>
              </a:prstGeom>
            </p:spPr>
          </p:pic>
        </mc:Fallback>
      </mc:AlternateContent>
    </p:spTree>
    <p:extLst>
      <p:ext uri="{BB962C8B-B14F-4D97-AF65-F5344CB8AC3E}">
        <p14:creationId xmlns:p14="http://schemas.microsoft.com/office/powerpoint/2010/main" val="1711094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4DCC6-60E3-C2ED-CD3D-823C5D05BA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4F0B55C-2180-638F-04A3-DD2069FC0B63}"/>
              </a:ext>
            </a:extLst>
          </p:cNvPr>
          <p:cNvSpPr>
            <a:spLocks noGrp="1"/>
          </p:cNvSpPr>
          <p:nvPr>
            <p:ph type="ctrTitle"/>
          </p:nvPr>
        </p:nvSpPr>
        <p:spPr>
          <a:xfrm>
            <a:off x="535342" y="301819"/>
            <a:ext cx="10274496" cy="990487"/>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Linear Model Summary &amp; Diagnosis: </a:t>
            </a:r>
            <a:br>
              <a:rPr lang="en-US" sz="3200" b="1" dirty="0">
                <a:solidFill>
                  <a:schemeClr val="bg2">
                    <a:lumMod val="25000"/>
                  </a:schemeClr>
                </a:solidFill>
                <a:latin typeface="Calibri" panose="020F0502020204030204" pitchFamily="34" charset="0"/>
                <a:cs typeface="Calibri" panose="020F0502020204030204" pitchFamily="34" charset="0"/>
              </a:rPr>
            </a:br>
            <a:r>
              <a:rPr lang="en-US" sz="3200" b="1" dirty="0">
                <a:solidFill>
                  <a:schemeClr val="bg2">
                    <a:lumMod val="25000"/>
                  </a:schemeClr>
                </a:solidFill>
                <a:latin typeface="Calibri" panose="020F0502020204030204" pitchFamily="34" charset="0"/>
                <a:cs typeface="Calibri" panose="020F0502020204030204" pitchFamily="34" charset="0"/>
              </a:rPr>
              <a:t>Freedom vs. Happiness Score</a:t>
            </a:r>
          </a:p>
        </p:txBody>
      </p:sp>
      <p:pic>
        <p:nvPicPr>
          <p:cNvPr id="4" name="Picture 3">
            <a:extLst>
              <a:ext uri="{FF2B5EF4-FFF2-40B4-BE49-F238E27FC236}">
                <a16:creationId xmlns:a16="http://schemas.microsoft.com/office/drawing/2014/main" id="{F4F17E2B-4E55-290F-AA38-F2E8C0B84020}"/>
              </a:ext>
            </a:extLst>
          </p:cNvPr>
          <p:cNvPicPr>
            <a:picLocks noChangeAspect="1"/>
          </p:cNvPicPr>
          <p:nvPr/>
        </p:nvPicPr>
        <p:blipFill>
          <a:blip r:embed="rId3"/>
          <a:stretch>
            <a:fillRect/>
          </a:stretch>
        </p:blipFill>
        <p:spPr>
          <a:xfrm>
            <a:off x="438146" y="1868261"/>
            <a:ext cx="5649366" cy="3179989"/>
          </a:xfrm>
          <a:prstGeom prst="rect">
            <a:avLst/>
          </a:prstGeom>
        </p:spPr>
      </p:pic>
      <p:pic>
        <p:nvPicPr>
          <p:cNvPr id="8" name="Picture 7">
            <a:extLst>
              <a:ext uri="{FF2B5EF4-FFF2-40B4-BE49-F238E27FC236}">
                <a16:creationId xmlns:a16="http://schemas.microsoft.com/office/drawing/2014/main" id="{26FC6DCF-FF59-1154-0F02-8FE48852B45B}"/>
              </a:ext>
            </a:extLst>
          </p:cNvPr>
          <p:cNvPicPr>
            <a:picLocks noChangeAspect="1"/>
          </p:cNvPicPr>
          <p:nvPr/>
        </p:nvPicPr>
        <p:blipFill>
          <a:blip r:embed="rId4"/>
          <a:stretch>
            <a:fillRect/>
          </a:stretch>
        </p:blipFill>
        <p:spPr>
          <a:xfrm>
            <a:off x="6104490" y="1292305"/>
            <a:ext cx="5552168" cy="5296217"/>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DA24D8E2-7AE9-5F2C-C61D-A2C4AC01CE82}"/>
                  </a:ext>
                </a:extLst>
              </p14:cNvPr>
              <p14:cNvContentPartPr/>
              <p14:nvPr/>
            </p14:nvContentPartPr>
            <p14:xfrm>
              <a:off x="5196383" y="4653225"/>
              <a:ext cx="507240" cy="45720"/>
            </p14:xfrm>
          </p:contentPart>
        </mc:Choice>
        <mc:Fallback xmlns="">
          <p:pic>
            <p:nvPicPr>
              <p:cNvPr id="9" name="Ink 8">
                <a:extLst>
                  <a:ext uri="{FF2B5EF4-FFF2-40B4-BE49-F238E27FC236}">
                    <a16:creationId xmlns:a16="http://schemas.microsoft.com/office/drawing/2014/main" id="{DA24D8E2-7AE9-5F2C-C61D-A2C4AC01CE82}"/>
                  </a:ext>
                </a:extLst>
              </p:cNvPr>
              <p:cNvPicPr/>
              <p:nvPr/>
            </p:nvPicPr>
            <p:blipFill>
              <a:blip r:embed="rId6"/>
              <a:stretch>
                <a:fillRect/>
              </a:stretch>
            </p:blipFill>
            <p:spPr>
              <a:xfrm>
                <a:off x="5142383" y="4545585"/>
                <a:ext cx="614880" cy="261360"/>
              </a:xfrm>
              <a:prstGeom prst="rect">
                <a:avLst/>
              </a:prstGeom>
            </p:spPr>
          </p:pic>
        </mc:Fallback>
      </mc:AlternateContent>
    </p:spTree>
    <p:extLst>
      <p:ext uri="{BB962C8B-B14F-4D97-AF65-F5344CB8AC3E}">
        <p14:creationId xmlns:p14="http://schemas.microsoft.com/office/powerpoint/2010/main" val="748940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80D10-76EE-9F87-1A0D-43BEF17E1E0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844FE07-BBDB-B41F-EF6F-66786712BEE4}"/>
              </a:ext>
            </a:extLst>
          </p:cNvPr>
          <p:cNvSpPr>
            <a:spLocks noGrp="1"/>
          </p:cNvSpPr>
          <p:nvPr>
            <p:ph type="ctrTitle"/>
          </p:nvPr>
        </p:nvSpPr>
        <p:spPr>
          <a:xfrm>
            <a:off x="535342" y="301819"/>
            <a:ext cx="10274496" cy="990487"/>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Linear Model Summary &amp; Diagnosis :</a:t>
            </a:r>
            <a:br>
              <a:rPr lang="en-US" sz="3200" b="1" dirty="0">
                <a:solidFill>
                  <a:schemeClr val="bg2">
                    <a:lumMod val="25000"/>
                  </a:schemeClr>
                </a:solidFill>
                <a:latin typeface="Calibri" panose="020F0502020204030204" pitchFamily="34" charset="0"/>
                <a:cs typeface="Calibri" panose="020F0502020204030204" pitchFamily="34" charset="0"/>
              </a:rPr>
            </a:br>
            <a:r>
              <a:rPr lang="en-US" sz="3200" b="1" dirty="0">
                <a:solidFill>
                  <a:schemeClr val="bg2">
                    <a:lumMod val="25000"/>
                  </a:schemeClr>
                </a:solidFill>
                <a:latin typeface="Calibri" panose="020F0502020204030204" pitchFamily="34" charset="0"/>
                <a:cs typeface="Calibri" panose="020F0502020204030204" pitchFamily="34" charset="0"/>
              </a:rPr>
              <a:t>Corruption vs. Happiness Score</a:t>
            </a:r>
          </a:p>
        </p:txBody>
      </p:sp>
      <p:pic>
        <p:nvPicPr>
          <p:cNvPr id="3" name="Picture 2">
            <a:extLst>
              <a:ext uri="{FF2B5EF4-FFF2-40B4-BE49-F238E27FC236}">
                <a16:creationId xmlns:a16="http://schemas.microsoft.com/office/drawing/2014/main" id="{F10AFEFF-4105-6149-5AB7-953E9C428888}"/>
              </a:ext>
            </a:extLst>
          </p:cNvPr>
          <p:cNvPicPr>
            <a:picLocks noChangeAspect="1"/>
          </p:cNvPicPr>
          <p:nvPr/>
        </p:nvPicPr>
        <p:blipFill>
          <a:blip r:embed="rId3"/>
          <a:stretch>
            <a:fillRect/>
          </a:stretch>
        </p:blipFill>
        <p:spPr>
          <a:xfrm>
            <a:off x="382257" y="1897856"/>
            <a:ext cx="5555249" cy="3062288"/>
          </a:xfrm>
          <a:prstGeom prst="rect">
            <a:avLst/>
          </a:prstGeom>
        </p:spPr>
      </p:pic>
      <p:pic>
        <p:nvPicPr>
          <p:cNvPr id="7" name="Picture 6">
            <a:extLst>
              <a:ext uri="{FF2B5EF4-FFF2-40B4-BE49-F238E27FC236}">
                <a16:creationId xmlns:a16="http://schemas.microsoft.com/office/drawing/2014/main" id="{969EEB69-B4D9-779A-F0A7-0E36DE790294}"/>
              </a:ext>
            </a:extLst>
          </p:cNvPr>
          <p:cNvPicPr>
            <a:picLocks noChangeAspect="1"/>
          </p:cNvPicPr>
          <p:nvPr/>
        </p:nvPicPr>
        <p:blipFill>
          <a:blip r:embed="rId4"/>
          <a:stretch>
            <a:fillRect/>
          </a:stretch>
        </p:blipFill>
        <p:spPr>
          <a:xfrm>
            <a:off x="6497830" y="1292306"/>
            <a:ext cx="5226187" cy="5033774"/>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4F7465A6-F9FC-0F8C-1831-4F5457001EEC}"/>
                  </a:ext>
                </a:extLst>
              </p14:cNvPr>
              <p14:cNvContentPartPr/>
              <p14:nvPr/>
            </p14:nvContentPartPr>
            <p14:xfrm>
              <a:off x="5015303" y="4593105"/>
              <a:ext cx="568080" cy="42120"/>
            </p14:xfrm>
          </p:contentPart>
        </mc:Choice>
        <mc:Fallback xmlns="">
          <p:pic>
            <p:nvPicPr>
              <p:cNvPr id="9" name="Ink 8">
                <a:extLst>
                  <a:ext uri="{FF2B5EF4-FFF2-40B4-BE49-F238E27FC236}">
                    <a16:creationId xmlns:a16="http://schemas.microsoft.com/office/drawing/2014/main" id="{4F7465A6-F9FC-0F8C-1831-4F5457001EEC}"/>
                  </a:ext>
                </a:extLst>
              </p:cNvPr>
              <p:cNvPicPr/>
              <p:nvPr/>
            </p:nvPicPr>
            <p:blipFill>
              <a:blip r:embed="rId6"/>
              <a:stretch>
                <a:fillRect/>
              </a:stretch>
            </p:blipFill>
            <p:spPr>
              <a:xfrm>
                <a:off x="4961663" y="4485465"/>
                <a:ext cx="675720" cy="257760"/>
              </a:xfrm>
              <a:prstGeom prst="rect">
                <a:avLst/>
              </a:prstGeom>
            </p:spPr>
          </p:pic>
        </mc:Fallback>
      </mc:AlternateContent>
    </p:spTree>
    <p:extLst>
      <p:ext uri="{BB962C8B-B14F-4D97-AF65-F5344CB8AC3E}">
        <p14:creationId xmlns:p14="http://schemas.microsoft.com/office/powerpoint/2010/main" val="2492583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561C3-818E-A0A2-0660-66DABF9E63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9445113-9B21-A6F2-C5A5-ABE3C6941E1F}"/>
              </a:ext>
            </a:extLst>
          </p:cNvPr>
          <p:cNvSpPr>
            <a:spLocks noGrp="1"/>
          </p:cNvSpPr>
          <p:nvPr>
            <p:ph type="ctrTitle"/>
          </p:nvPr>
        </p:nvSpPr>
        <p:spPr>
          <a:xfrm>
            <a:off x="535342" y="301819"/>
            <a:ext cx="10274496" cy="990487"/>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Linear Model Summary &amp; Diagnosis: </a:t>
            </a:r>
            <a:br>
              <a:rPr lang="en-US" sz="3200" b="1" dirty="0">
                <a:solidFill>
                  <a:schemeClr val="bg2">
                    <a:lumMod val="25000"/>
                  </a:schemeClr>
                </a:solidFill>
                <a:latin typeface="Calibri" panose="020F0502020204030204" pitchFamily="34" charset="0"/>
                <a:cs typeface="Calibri" panose="020F0502020204030204" pitchFamily="34" charset="0"/>
              </a:rPr>
            </a:br>
            <a:r>
              <a:rPr lang="en-US" sz="3200" b="1" dirty="0">
                <a:solidFill>
                  <a:schemeClr val="bg2">
                    <a:lumMod val="25000"/>
                  </a:schemeClr>
                </a:solidFill>
                <a:latin typeface="Calibri" panose="020F0502020204030204" pitchFamily="34" charset="0"/>
                <a:cs typeface="Calibri" panose="020F0502020204030204" pitchFamily="34" charset="0"/>
              </a:rPr>
              <a:t>Generosity vs. Happiness Score</a:t>
            </a:r>
          </a:p>
        </p:txBody>
      </p:sp>
      <p:pic>
        <p:nvPicPr>
          <p:cNvPr id="4" name="Picture 3">
            <a:extLst>
              <a:ext uri="{FF2B5EF4-FFF2-40B4-BE49-F238E27FC236}">
                <a16:creationId xmlns:a16="http://schemas.microsoft.com/office/drawing/2014/main" id="{A2EA9D3D-DF29-7CC9-2D6E-29B60CB1E3B5}"/>
              </a:ext>
            </a:extLst>
          </p:cNvPr>
          <p:cNvPicPr>
            <a:picLocks noChangeAspect="1"/>
          </p:cNvPicPr>
          <p:nvPr/>
        </p:nvPicPr>
        <p:blipFill>
          <a:blip r:embed="rId3"/>
          <a:stretch>
            <a:fillRect/>
          </a:stretch>
        </p:blipFill>
        <p:spPr>
          <a:xfrm>
            <a:off x="349524" y="2066118"/>
            <a:ext cx="6145221" cy="3382182"/>
          </a:xfrm>
          <a:prstGeom prst="rect">
            <a:avLst/>
          </a:prstGeom>
        </p:spPr>
      </p:pic>
      <p:pic>
        <p:nvPicPr>
          <p:cNvPr id="8" name="Picture 7">
            <a:extLst>
              <a:ext uri="{FF2B5EF4-FFF2-40B4-BE49-F238E27FC236}">
                <a16:creationId xmlns:a16="http://schemas.microsoft.com/office/drawing/2014/main" id="{EF81AF41-EC74-E774-F7B9-A65C3D44ECD4}"/>
              </a:ext>
            </a:extLst>
          </p:cNvPr>
          <p:cNvPicPr>
            <a:picLocks noChangeAspect="1"/>
          </p:cNvPicPr>
          <p:nvPr/>
        </p:nvPicPr>
        <p:blipFill>
          <a:blip r:embed="rId4"/>
          <a:stretch>
            <a:fillRect/>
          </a:stretch>
        </p:blipFill>
        <p:spPr>
          <a:xfrm>
            <a:off x="6346562" y="1298381"/>
            <a:ext cx="5495914" cy="5257800"/>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7FECC78C-1343-23A9-E82C-4875B68280C9}"/>
                  </a:ext>
                </a:extLst>
              </p14:cNvPr>
              <p14:cNvContentPartPr/>
              <p14:nvPr/>
            </p14:nvContentPartPr>
            <p14:xfrm>
              <a:off x="5350103" y="4950585"/>
              <a:ext cx="730440" cy="38520"/>
            </p14:xfrm>
          </p:contentPart>
        </mc:Choice>
        <mc:Fallback xmlns="">
          <p:pic>
            <p:nvPicPr>
              <p:cNvPr id="9" name="Ink 8">
                <a:extLst>
                  <a:ext uri="{FF2B5EF4-FFF2-40B4-BE49-F238E27FC236}">
                    <a16:creationId xmlns:a16="http://schemas.microsoft.com/office/drawing/2014/main" id="{7FECC78C-1343-23A9-E82C-4875B68280C9}"/>
                  </a:ext>
                </a:extLst>
              </p:cNvPr>
              <p:cNvPicPr/>
              <p:nvPr/>
            </p:nvPicPr>
            <p:blipFill>
              <a:blip r:embed="rId6"/>
              <a:stretch>
                <a:fillRect/>
              </a:stretch>
            </p:blipFill>
            <p:spPr>
              <a:xfrm>
                <a:off x="5296463" y="4842945"/>
                <a:ext cx="838080" cy="254160"/>
              </a:xfrm>
              <a:prstGeom prst="rect">
                <a:avLst/>
              </a:prstGeom>
            </p:spPr>
          </p:pic>
        </mc:Fallback>
      </mc:AlternateContent>
    </p:spTree>
    <p:extLst>
      <p:ext uri="{BB962C8B-B14F-4D97-AF65-F5344CB8AC3E}">
        <p14:creationId xmlns:p14="http://schemas.microsoft.com/office/powerpoint/2010/main" val="3107863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BAEFA-CFBA-B96D-AAF0-A4C30652E7A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C417E5-5C24-89B7-A48A-20FB8856AC48}"/>
              </a:ext>
            </a:extLst>
          </p:cNvPr>
          <p:cNvSpPr>
            <a:spLocks noGrp="1"/>
          </p:cNvSpPr>
          <p:nvPr>
            <p:ph type="ctrTitle"/>
          </p:nvPr>
        </p:nvSpPr>
        <p:spPr>
          <a:xfrm>
            <a:off x="535342" y="301820"/>
            <a:ext cx="10274496" cy="656418"/>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Multiple Linear Regression</a:t>
            </a:r>
          </a:p>
        </p:txBody>
      </p:sp>
      <p:pic>
        <p:nvPicPr>
          <p:cNvPr id="3" name="Picture 2">
            <a:extLst>
              <a:ext uri="{FF2B5EF4-FFF2-40B4-BE49-F238E27FC236}">
                <a16:creationId xmlns:a16="http://schemas.microsoft.com/office/drawing/2014/main" id="{789642CC-3FD1-E7EC-1805-3109A4D0948F}"/>
              </a:ext>
            </a:extLst>
          </p:cNvPr>
          <p:cNvPicPr>
            <a:picLocks noChangeAspect="1"/>
          </p:cNvPicPr>
          <p:nvPr/>
        </p:nvPicPr>
        <p:blipFill>
          <a:blip r:embed="rId3"/>
          <a:stretch>
            <a:fillRect/>
          </a:stretch>
        </p:blipFill>
        <p:spPr>
          <a:xfrm>
            <a:off x="535342" y="1620740"/>
            <a:ext cx="4998195" cy="3616519"/>
          </a:xfrm>
          <a:prstGeom prst="rect">
            <a:avLst/>
          </a:prstGeom>
        </p:spPr>
      </p:pic>
      <p:pic>
        <p:nvPicPr>
          <p:cNvPr id="7" name="Picture 6">
            <a:extLst>
              <a:ext uri="{FF2B5EF4-FFF2-40B4-BE49-F238E27FC236}">
                <a16:creationId xmlns:a16="http://schemas.microsoft.com/office/drawing/2014/main" id="{3EAC4EBC-28AF-3896-0678-DC78EDAD2180}"/>
              </a:ext>
            </a:extLst>
          </p:cNvPr>
          <p:cNvPicPr>
            <a:picLocks noChangeAspect="1"/>
          </p:cNvPicPr>
          <p:nvPr/>
        </p:nvPicPr>
        <p:blipFill>
          <a:blip r:embed="rId4"/>
          <a:stretch>
            <a:fillRect/>
          </a:stretch>
        </p:blipFill>
        <p:spPr>
          <a:xfrm>
            <a:off x="6000223" y="761999"/>
            <a:ext cx="5557070" cy="5334000"/>
          </a:xfrm>
          <a:prstGeom prst="rect">
            <a:avLst/>
          </a:prstGeom>
        </p:spPr>
      </p:pic>
      <p:sp>
        <p:nvSpPr>
          <p:cNvPr id="11" name="TextBox 10">
            <a:extLst>
              <a:ext uri="{FF2B5EF4-FFF2-40B4-BE49-F238E27FC236}">
                <a16:creationId xmlns:a16="http://schemas.microsoft.com/office/drawing/2014/main" id="{BBA57F22-3335-4253-5C54-694F7171EC1F}"/>
              </a:ext>
            </a:extLst>
          </p:cNvPr>
          <p:cNvSpPr txBox="1"/>
          <p:nvPr/>
        </p:nvSpPr>
        <p:spPr>
          <a:xfrm>
            <a:off x="377982" y="5341606"/>
            <a:ext cx="5488664" cy="1200329"/>
          </a:xfrm>
          <a:prstGeom prst="rect">
            <a:avLst/>
          </a:prstGeom>
          <a:noFill/>
        </p:spPr>
        <p:txBody>
          <a:bodyPr wrap="square">
            <a:spAutoFit/>
          </a:bodyPr>
          <a:lstStyle/>
          <a:p>
            <a:r>
              <a:rPr lang="en-US" dirty="0">
                <a:solidFill>
                  <a:schemeClr val="bg2">
                    <a:lumMod val="50000"/>
                  </a:schemeClr>
                </a:solidFill>
              </a:rPr>
              <a:t>About 70.81% of the variation in Happiness Scores across countries is explained by the independent variables- GDP, Social Support, Health, Freedom, Generosity, and Corruption</a:t>
            </a:r>
          </a:p>
        </p:txBody>
      </p:sp>
    </p:spTree>
    <p:extLst>
      <p:ext uri="{BB962C8B-B14F-4D97-AF65-F5344CB8AC3E}">
        <p14:creationId xmlns:p14="http://schemas.microsoft.com/office/powerpoint/2010/main" val="3975854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6F74-A91D-75E4-A3FB-420C9A7AE52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025FF9C-2E43-FC8E-AC36-4FF037DBCE71}"/>
              </a:ext>
            </a:extLst>
          </p:cNvPr>
          <p:cNvSpPr>
            <a:spLocks noGrp="1"/>
          </p:cNvSpPr>
          <p:nvPr>
            <p:ph type="ctrTitle"/>
          </p:nvPr>
        </p:nvSpPr>
        <p:spPr>
          <a:xfrm>
            <a:off x="535342" y="301820"/>
            <a:ext cx="10274496" cy="656418"/>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Most Significant Factors </a:t>
            </a:r>
          </a:p>
        </p:txBody>
      </p:sp>
      <p:sp>
        <p:nvSpPr>
          <p:cNvPr id="9" name="TextBox 8">
            <a:extLst>
              <a:ext uri="{FF2B5EF4-FFF2-40B4-BE49-F238E27FC236}">
                <a16:creationId xmlns:a16="http://schemas.microsoft.com/office/drawing/2014/main" id="{E837A219-E985-88DB-086F-6BF785DBCC31}"/>
              </a:ext>
            </a:extLst>
          </p:cNvPr>
          <p:cNvSpPr txBox="1"/>
          <p:nvPr/>
        </p:nvSpPr>
        <p:spPr>
          <a:xfrm>
            <a:off x="546819" y="1324303"/>
            <a:ext cx="11190548" cy="646331"/>
          </a:xfrm>
          <a:prstGeom prst="rect">
            <a:avLst/>
          </a:prstGeom>
          <a:noFill/>
        </p:spPr>
        <p:txBody>
          <a:bodyPr wrap="square" rtlCol="0">
            <a:spAutoFit/>
          </a:bodyPr>
          <a:lstStyle/>
          <a:p>
            <a:r>
              <a:rPr lang="en-US" dirty="0"/>
              <a:t>Research Question 1: How do economic, social, and governance factors influence national happiness scores across countries?</a:t>
            </a:r>
          </a:p>
        </p:txBody>
      </p:sp>
      <p:graphicFrame>
        <p:nvGraphicFramePr>
          <p:cNvPr id="2" name="Table 1">
            <a:extLst>
              <a:ext uri="{FF2B5EF4-FFF2-40B4-BE49-F238E27FC236}">
                <a16:creationId xmlns:a16="http://schemas.microsoft.com/office/drawing/2014/main" id="{7AE43F38-DFAA-2597-5683-9A62E5A26FF0}"/>
              </a:ext>
            </a:extLst>
          </p:cNvPr>
          <p:cNvGraphicFramePr>
            <a:graphicFrameLocks noGrp="1"/>
          </p:cNvGraphicFramePr>
          <p:nvPr>
            <p:extLst>
              <p:ext uri="{D42A27DB-BD31-4B8C-83A1-F6EECF244321}">
                <p14:modId xmlns:p14="http://schemas.microsoft.com/office/powerpoint/2010/main" val="1294744108"/>
              </p:ext>
            </p:extLst>
          </p:nvPr>
        </p:nvGraphicFramePr>
        <p:xfrm>
          <a:off x="592912" y="2336699"/>
          <a:ext cx="11098361" cy="3352760"/>
        </p:xfrm>
        <a:graphic>
          <a:graphicData uri="http://schemas.openxmlformats.org/drawingml/2006/table">
            <a:tbl>
              <a:tblPr firstRow="1" bandRow="1">
                <a:tableStyleId>{5C22544A-7EE6-4342-B048-85BDC9FD1C3A}</a:tableStyleId>
              </a:tblPr>
              <a:tblGrid>
                <a:gridCol w="6924714">
                  <a:extLst>
                    <a:ext uri="{9D8B030D-6E8A-4147-A177-3AD203B41FA5}">
                      <a16:colId xmlns:a16="http://schemas.microsoft.com/office/drawing/2014/main" val="1421188998"/>
                    </a:ext>
                  </a:extLst>
                </a:gridCol>
                <a:gridCol w="2390115">
                  <a:extLst>
                    <a:ext uri="{9D8B030D-6E8A-4147-A177-3AD203B41FA5}">
                      <a16:colId xmlns:a16="http://schemas.microsoft.com/office/drawing/2014/main" val="1691127696"/>
                    </a:ext>
                  </a:extLst>
                </a:gridCol>
                <a:gridCol w="1783532">
                  <a:extLst>
                    <a:ext uri="{9D8B030D-6E8A-4147-A177-3AD203B41FA5}">
                      <a16:colId xmlns:a16="http://schemas.microsoft.com/office/drawing/2014/main" val="2839229379"/>
                    </a:ext>
                  </a:extLst>
                </a:gridCol>
              </a:tblGrid>
              <a:tr h="474490">
                <a:tc>
                  <a:txBody>
                    <a:bodyPr/>
                    <a:lstStyle/>
                    <a:p>
                      <a:r>
                        <a:rPr lang="en-US" dirty="0"/>
                        <a:t>Factors</a:t>
                      </a:r>
                    </a:p>
                  </a:txBody>
                  <a:tcPr/>
                </a:tc>
                <a:tc>
                  <a:txBody>
                    <a:bodyPr/>
                    <a:lstStyle/>
                    <a:p>
                      <a:r>
                        <a:rPr lang="en-US" dirty="0">
                          <a:effectLst/>
                        </a:rPr>
                        <a:t>Adjusted R-squared </a:t>
                      </a:r>
                      <a:endParaRPr lang="en-US" dirty="0"/>
                    </a:p>
                  </a:txBody>
                  <a:tcPr/>
                </a:tc>
                <a:tc>
                  <a:txBody>
                    <a:bodyPr/>
                    <a:lstStyle/>
                    <a:p>
                      <a:r>
                        <a:rPr lang="en-US" dirty="0"/>
                        <a:t>Improvement</a:t>
                      </a:r>
                    </a:p>
                  </a:txBody>
                  <a:tcPr/>
                </a:tc>
                <a:extLst>
                  <a:ext uri="{0D108BD9-81ED-4DB2-BD59-A6C34878D82A}">
                    <a16:rowId xmlns:a16="http://schemas.microsoft.com/office/drawing/2014/main" val="1541011044"/>
                  </a:ext>
                </a:extLst>
              </a:tr>
              <a:tr h="474490">
                <a:tc>
                  <a:txBody>
                    <a:bodyPr/>
                    <a:lstStyle/>
                    <a:p>
                      <a:r>
                        <a:rPr lang="en-US" dirty="0"/>
                        <a:t>GDP</a:t>
                      </a:r>
                    </a:p>
                  </a:txBody>
                  <a:tcPr/>
                </a:tc>
                <a:tc>
                  <a:txBody>
                    <a:bodyPr/>
                    <a:lstStyle/>
                    <a:p>
                      <a:r>
                        <a:rPr lang="en-US" dirty="0"/>
                        <a:t>0.4736</a:t>
                      </a:r>
                    </a:p>
                  </a:txBody>
                  <a:tcPr/>
                </a:tc>
                <a:tc>
                  <a:txBody>
                    <a:bodyPr/>
                    <a:lstStyle/>
                    <a:p>
                      <a:r>
                        <a:rPr lang="en-US" dirty="0"/>
                        <a:t>-</a:t>
                      </a:r>
                    </a:p>
                  </a:txBody>
                  <a:tcPr/>
                </a:tc>
                <a:extLst>
                  <a:ext uri="{0D108BD9-81ED-4DB2-BD59-A6C34878D82A}">
                    <a16:rowId xmlns:a16="http://schemas.microsoft.com/office/drawing/2014/main" val="3263549796"/>
                  </a:ext>
                </a:extLst>
              </a:tr>
              <a:tr h="474490">
                <a:tc>
                  <a:txBody>
                    <a:bodyPr/>
                    <a:lstStyle/>
                    <a:p>
                      <a:r>
                        <a:rPr lang="en-US" dirty="0"/>
                        <a:t>GDP + Health</a:t>
                      </a:r>
                    </a:p>
                  </a:txBody>
                  <a:tcPr/>
                </a:tc>
                <a:tc>
                  <a:txBody>
                    <a:bodyPr/>
                    <a:lstStyle/>
                    <a:p>
                      <a:r>
                        <a:rPr lang="en-US" dirty="0"/>
                        <a:t>0.5985</a:t>
                      </a:r>
                    </a:p>
                  </a:txBody>
                  <a:tcPr/>
                </a:tc>
                <a:tc>
                  <a:txBody>
                    <a:bodyPr/>
                    <a:lstStyle/>
                    <a:p>
                      <a:r>
                        <a:rPr lang="en-US" dirty="0"/>
                        <a:t>26.37%</a:t>
                      </a:r>
                    </a:p>
                  </a:txBody>
                  <a:tcPr/>
                </a:tc>
                <a:extLst>
                  <a:ext uri="{0D108BD9-81ED-4DB2-BD59-A6C34878D82A}">
                    <a16:rowId xmlns:a16="http://schemas.microsoft.com/office/drawing/2014/main" val="666961944"/>
                  </a:ext>
                </a:extLst>
              </a:tr>
              <a:tr h="4744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GDP + Health + Freedom</a:t>
                      </a:r>
                    </a:p>
                  </a:txBody>
                  <a:tcPr/>
                </a:tc>
                <a:tc>
                  <a:txBody>
                    <a:bodyPr/>
                    <a:lstStyle/>
                    <a:p>
                      <a:r>
                        <a:rPr lang="en-US" dirty="0">
                          <a:effectLst/>
                        </a:rPr>
                        <a:t>0.659</a:t>
                      </a:r>
                      <a:endParaRPr lang="en-US" dirty="0"/>
                    </a:p>
                  </a:txBody>
                  <a:tcPr/>
                </a:tc>
                <a:tc>
                  <a:txBody>
                    <a:bodyPr/>
                    <a:lstStyle/>
                    <a:p>
                      <a:r>
                        <a:rPr lang="en-US" dirty="0"/>
                        <a:t>10.10%</a:t>
                      </a:r>
                    </a:p>
                  </a:txBody>
                  <a:tcPr/>
                </a:tc>
                <a:extLst>
                  <a:ext uri="{0D108BD9-81ED-4DB2-BD59-A6C34878D82A}">
                    <a16:rowId xmlns:a16="http://schemas.microsoft.com/office/drawing/2014/main" val="2197397011"/>
                  </a:ext>
                </a:extLst>
              </a:tr>
              <a:tr h="5058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GDP + Health + Freedom + Social Support</a:t>
                      </a:r>
                    </a:p>
                  </a:txBody>
                  <a:tcPr/>
                </a:tc>
                <a:tc>
                  <a:txBody>
                    <a:bodyPr/>
                    <a:lstStyle/>
                    <a:p>
                      <a:r>
                        <a:rPr lang="en-US" dirty="0">
                          <a:effectLst/>
                        </a:rPr>
                        <a:t>0.684</a:t>
                      </a:r>
                      <a:endParaRPr lang="en-US" dirty="0"/>
                    </a:p>
                  </a:txBody>
                  <a:tcPr/>
                </a:tc>
                <a:tc>
                  <a:txBody>
                    <a:bodyPr/>
                    <a:lstStyle/>
                    <a:p>
                      <a:r>
                        <a:rPr lang="en-US" dirty="0"/>
                        <a:t>3.79%</a:t>
                      </a:r>
                    </a:p>
                  </a:txBody>
                  <a:tcPr/>
                </a:tc>
                <a:extLst>
                  <a:ext uri="{0D108BD9-81ED-4DB2-BD59-A6C34878D82A}">
                    <a16:rowId xmlns:a16="http://schemas.microsoft.com/office/drawing/2014/main" val="1847754120"/>
                  </a:ext>
                </a:extLst>
              </a:tr>
              <a:tr h="4744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GDP + Health + Freedom + Social Support + Generosity</a:t>
                      </a:r>
                    </a:p>
                  </a:txBody>
                  <a:tcPr/>
                </a:tc>
                <a:tc>
                  <a:txBody>
                    <a:bodyPr/>
                    <a:lstStyle/>
                    <a:p>
                      <a:r>
                        <a:rPr lang="en-US" dirty="0">
                          <a:effectLst/>
                        </a:rPr>
                        <a:t>0.701</a:t>
                      </a:r>
                      <a:endParaRPr lang="en-US" dirty="0"/>
                    </a:p>
                  </a:txBody>
                  <a:tcPr/>
                </a:tc>
                <a:tc>
                  <a:txBody>
                    <a:bodyPr/>
                    <a:lstStyle/>
                    <a:p>
                      <a:r>
                        <a:rPr lang="en-US" dirty="0"/>
                        <a:t>2.49%</a:t>
                      </a:r>
                    </a:p>
                  </a:txBody>
                  <a:tcPr/>
                </a:tc>
                <a:extLst>
                  <a:ext uri="{0D108BD9-81ED-4DB2-BD59-A6C34878D82A}">
                    <a16:rowId xmlns:a16="http://schemas.microsoft.com/office/drawing/2014/main" val="3567979529"/>
                  </a:ext>
                </a:extLst>
              </a:tr>
              <a:tr h="4744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GDP + Health + Freedom + Social Support + Generosity + Corruption</a:t>
                      </a:r>
                    </a:p>
                  </a:txBody>
                  <a:tcPr/>
                </a:tc>
                <a:tc>
                  <a:txBody>
                    <a:bodyPr/>
                    <a:lstStyle/>
                    <a:p>
                      <a:r>
                        <a:rPr lang="en-US" dirty="0">
                          <a:effectLst/>
                        </a:rPr>
                        <a:t>0.7081</a:t>
                      </a:r>
                      <a:endParaRPr lang="en-US" dirty="0"/>
                    </a:p>
                  </a:txBody>
                  <a:tcPr/>
                </a:tc>
                <a:tc>
                  <a:txBody>
                    <a:bodyPr/>
                    <a:lstStyle/>
                    <a:p>
                      <a:r>
                        <a:rPr lang="en-US" dirty="0"/>
                        <a:t>1.01%</a:t>
                      </a:r>
                    </a:p>
                  </a:txBody>
                  <a:tcPr/>
                </a:tc>
                <a:extLst>
                  <a:ext uri="{0D108BD9-81ED-4DB2-BD59-A6C34878D82A}">
                    <a16:rowId xmlns:a16="http://schemas.microsoft.com/office/drawing/2014/main" val="2247901799"/>
                  </a:ext>
                </a:extLst>
              </a:tr>
            </a:tbl>
          </a:graphicData>
        </a:graphic>
      </p:graphicFrame>
    </p:spTree>
    <p:extLst>
      <p:ext uri="{BB962C8B-B14F-4D97-AF65-F5344CB8AC3E}">
        <p14:creationId xmlns:p14="http://schemas.microsoft.com/office/powerpoint/2010/main" val="84855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BD491-6859-6AD3-9E0E-FC3855B6C04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3830BD-4AF1-CCD3-4AF1-A71C35157E1E}"/>
              </a:ext>
            </a:extLst>
          </p:cNvPr>
          <p:cNvSpPr>
            <a:spLocks noGrp="1"/>
          </p:cNvSpPr>
          <p:nvPr>
            <p:ph type="ctrTitle"/>
          </p:nvPr>
        </p:nvSpPr>
        <p:spPr>
          <a:xfrm>
            <a:off x="535342" y="301819"/>
            <a:ext cx="11116468" cy="750879"/>
          </a:xfrm>
        </p:spPr>
        <p:txBody>
          <a:bodyPr>
            <a:noAutofit/>
          </a:bodyPr>
          <a:lstStyle/>
          <a:p>
            <a:pPr algn="l"/>
            <a:r>
              <a:rPr lang="en-US" sz="2400" b="1" dirty="0">
                <a:solidFill>
                  <a:schemeClr val="bg2">
                    <a:lumMod val="25000"/>
                  </a:schemeClr>
                </a:solidFill>
                <a:latin typeface="Calibri" panose="020F0502020204030204" pitchFamily="34" charset="0"/>
                <a:cs typeface="Calibri" panose="020F0502020204030204" pitchFamily="34" charset="0"/>
              </a:rPr>
              <a:t>Research Question 2: Is there a significant difference in happiness scores between high-income and low-income countries?</a:t>
            </a:r>
          </a:p>
        </p:txBody>
      </p:sp>
      <p:pic>
        <p:nvPicPr>
          <p:cNvPr id="3" name="Picture 2">
            <a:extLst>
              <a:ext uri="{FF2B5EF4-FFF2-40B4-BE49-F238E27FC236}">
                <a16:creationId xmlns:a16="http://schemas.microsoft.com/office/drawing/2014/main" id="{A763BA44-B36F-6031-2F3B-888412BCAFFD}"/>
              </a:ext>
            </a:extLst>
          </p:cNvPr>
          <p:cNvPicPr>
            <a:picLocks noChangeAspect="1"/>
          </p:cNvPicPr>
          <p:nvPr/>
        </p:nvPicPr>
        <p:blipFill>
          <a:blip r:embed="rId3"/>
          <a:stretch>
            <a:fillRect/>
          </a:stretch>
        </p:blipFill>
        <p:spPr>
          <a:xfrm>
            <a:off x="535342" y="1619250"/>
            <a:ext cx="4622850" cy="4524375"/>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968BE2C-5CD0-310B-A349-6100ED5F59EF}"/>
                  </a:ext>
                </a:extLst>
              </p:cNvPr>
              <p:cNvSpPr txBox="1"/>
              <p:nvPr/>
            </p:nvSpPr>
            <p:spPr>
              <a:xfrm>
                <a:off x="5203480" y="1975268"/>
                <a:ext cx="6448330" cy="2907463"/>
              </a:xfrm>
              <a:prstGeom prst="rect">
                <a:avLst/>
              </a:prstGeom>
              <a:noFill/>
            </p:spPr>
            <p:txBody>
              <a:bodyPr wrap="square">
                <a:spAutoFit/>
              </a:bodyPr>
              <a:lstStyle/>
              <a:p>
                <a:pPr algn="just"/>
                <a:r>
                  <a:rPr lang="en-US" b="1" dirty="0">
                    <a:solidFill>
                      <a:schemeClr val="bg2">
                        <a:lumMod val="50000"/>
                      </a:schemeClr>
                    </a:solidFill>
                  </a:rPr>
                  <a:t>Null Hypothesis (</a:t>
                </a:r>
                <a14:m>
                  <m:oMath xmlns:m="http://schemas.openxmlformats.org/officeDocument/2006/math">
                    <m:sSub>
                      <m:sSubPr>
                        <m:ctrlPr>
                          <a:rPr lang="en-US" b="1" i="1">
                            <a:solidFill>
                              <a:schemeClr val="bg2">
                                <a:lumMod val="50000"/>
                              </a:schemeClr>
                            </a:solidFill>
                            <a:latin typeface="Cambria Math" panose="02040503050406030204" pitchFamily="18" charset="0"/>
                          </a:rPr>
                        </m:ctrlPr>
                      </m:sSubPr>
                      <m:e>
                        <m:r>
                          <a:rPr lang="en-US" b="1" i="1">
                            <a:solidFill>
                              <a:schemeClr val="bg2">
                                <a:lumMod val="50000"/>
                              </a:schemeClr>
                            </a:solidFill>
                            <a:latin typeface="Cambria Math" panose="02040503050406030204" pitchFamily="18" charset="0"/>
                          </a:rPr>
                          <m:t>𝑯</m:t>
                        </m:r>
                      </m:e>
                      <m:sub>
                        <m:r>
                          <a:rPr lang="en-US" b="1" i="1">
                            <a:solidFill>
                              <a:schemeClr val="bg2">
                                <a:lumMod val="50000"/>
                              </a:schemeClr>
                            </a:solidFill>
                            <a:latin typeface="Cambria Math" panose="02040503050406030204" pitchFamily="18" charset="0"/>
                          </a:rPr>
                          <m:t>𝟎</m:t>
                        </m:r>
                      </m:sub>
                    </m:sSub>
                  </m:oMath>
                </a14:m>
                <a:r>
                  <a:rPr lang="en-US" b="1" dirty="0">
                    <a:solidFill>
                      <a:schemeClr val="bg2">
                        <a:lumMod val="50000"/>
                      </a:schemeClr>
                    </a:solidFill>
                  </a:rPr>
                  <a:t>): </a:t>
                </a:r>
                <a:r>
                  <a:rPr lang="en-US" dirty="0">
                    <a:solidFill>
                      <a:schemeClr val="bg2">
                        <a:lumMod val="50000"/>
                      </a:schemeClr>
                    </a:solidFill>
                  </a:rPr>
                  <a:t>There is no significant difference in the mean happiness scores between high-income and low-income countries,</a:t>
                </a:r>
              </a:p>
              <a:p>
                <a:pPr algn="ctr"/>
                <a:r>
                  <a:rPr lang="en-US" dirty="0">
                    <a:solidFill>
                      <a:schemeClr val="bg2">
                        <a:lumMod val="50000"/>
                      </a:schemeClr>
                    </a:solidFill>
                  </a:rPr>
                  <a:t> </a:t>
                </a:r>
                <a14:m>
                  <m:oMath xmlns:m="http://schemas.openxmlformats.org/officeDocument/2006/math">
                    <m:sSub>
                      <m:sSubPr>
                        <m:ctrlPr>
                          <a:rPr lang="en-US" i="1">
                            <a:solidFill>
                              <a:schemeClr val="bg2">
                                <a:lumMod val="50000"/>
                              </a:schemeClr>
                            </a:solidFill>
                            <a:latin typeface="Cambria Math" panose="02040503050406030204" pitchFamily="18" charset="0"/>
                          </a:rPr>
                        </m:ctrlPr>
                      </m:sSubPr>
                      <m:e>
                        <m:r>
                          <a:rPr lang="en-US" b="0" i="1" smtClean="0">
                            <a:solidFill>
                              <a:schemeClr val="bg2">
                                <a:lumMod val="50000"/>
                              </a:schemeClr>
                            </a:solidFill>
                            <a:latin typeface="Cambria Math" panose="02040503050406030204" pitchFamily="18" charset="0"/>
                          </a:rPr>
                          <m:t>𝐻</m:t>
                        </m:r>
                      </m:e>
                      <m:sub>
                        <m:r>
                          <a:rPr lang="en-US" b="0" i="1" smtClean="0">
                            <a:solidFill>
                              <a:schemeClr val="bg2">
                                <a:lumMod val="50000"/>
                              </a:schemeClr>
                            </a:solidFill>
                            <a:latin typeface="Cambria Math" panose="02040503050406030204" pitchFamily="18" charset="0"/>
                          </a:rPr>
                          <m:t>0</m:t>
                        </m:r>
                      </m:sub>
                    </m:sSub>
                    <m:r>
                      <a:rPr lang="en-US" b="0" i="1" smtClean="0">
                        <a:solidFill>
                          <a:schemeClr val="bg2">
                            <a:lumMod val="50000"/>
                          </a:schemeClr>
                        </a:solidFill>
                        <a:latin typeface="Cambria Math" panose="02040503050406030204" pitchFamily="18" charset="0"/>
                      </a:rPr>
                      <m:t>:</m:t>
                    </m:r>
                    <m:sSub>
                      <m:sSubPr>
                        <m:ctrlPr>
                          <a:rPr lang="en-US" i="1" smtClean="0">
                            <a:solidFill>
                              <a:schemeClr val="bg2">
                                <a:lumMod val="50000"/>
                              </a:schemeClr>
                            </a:solidFill>
                            <a:latin typeface="Cambria Math" panose="02040503050406030204" pitchFamily="18" charset="0"/>
                          </a:rPr>
                        </m:ctrlPr>
                      </m:sSubPr>
                      <m:e>
                        <m:r>
                          <a:rPr lang="en-US" b="0" i="1" smtClean="0">
                            <a:solidFill>
                              <a:schemeClr val="bg2">
                                <a:lumMod val="50000"/>
                              </a:schemeClr>
                            </a:solidFill>
                            <a:latin typeface="Cambria Math" panose="02040503050406030204" pitchFamily="18" charset="0"/>
                          </a:rPr>
                          <m:t> </m:t>
                        </m:r>
                        <m:r>
                          <a:rPr lang="en-US" i="1" smtClean="0">
                            <a:solidFill>
                              <a:schemeClr val="bg2">
                                <a:lumMod val="50000"/>
                              </a:schemeClr>
                            </a:solidFill>
                            <a:latin typeface="Cambria Math" panose="02040503050406030204" pitchFamily="18" charset="0"/>
                            <a:ea typeface="Cambria Math" panose="02040503050406030204" pitchFamily="18" charset="0"/>
                          </a:rPr>
                          <m:t>𝜇</m:t>
                        </m:r>
                      </m:e>
                      <m:sub>
                        <m:r>
                          <a:rPr lang="en-US" b="0" i="1" smtClean="0">
                            <a:solidFill>
                              <a:schemeClr val="bg2">
                                <a:lumMod val="50000"/>
                              </a:schemeClr>
                            </a:solidFill>
                            <a:latin typeface="Cambria Math" panose="02040503050406030204" pitchFamily="18" charset="0"/>
                          </a:rPr>
                          <m:t>h𝑖𝑔h</m:t>
                        </m:r>
                      </m:sub>
                    </m:sSub>
                    <m:r>
                      <a:rPr lang="en-US" b="0" i="1" smtClean="0">
                        <a:solidFill>
                          <a:schemeClr val="bg2">
                            <a:lumMod val="50000"/>
                          </a:schemeClr>
                        </a:solidFill>
                        <a:latin typeface="Cambria Math" panose="02040503050406030204" pitchFamily="18" charset="0"/>
                      </a:rPr>
                      <m:t>=</m:t>
                    </m:r>
                    <m:sSub>
                      <m:sSubPr>
                        <m:ctrlPr>
                          <a:rPr lang="en-US" i="1">
                            <a:solidFill>
                              <a:schemeClr val="bg2">
                                <a:lumMod val="50000"/>
                              </a:schemeClr>
                            </a:solidFill>
                            <a:latin typeface="Cambria Math" panose="02040503050406030204" pitchFamily="18" charset="0"/>
                          </a:rPr>
                        </m:ctrlPr>
                      </m:sSubPr>
                      <m:e>
                        <m:r>
                          <a:rPr lang="en-US" i="1">
                            <a:solidFill>
                              <a:schemeClr val="bg2">
                                <a:lumMod val="50000"/>
                              </a:schemeClr>
                            </a:solidFill>
                            <a:latin typeface="Cambria Math" panose="02040503050406030204" pitchFamily="18" charset="0"/>
                            <a:ea typeface="Cambria Math" panose="02040503050406030204" pitchFamily="18" charset="0"/>
                          </a:rPr>
                          <m:t>𝜇</m:t>
                        </m:r>
                      </m:e>
                      <m:sub>
                        <m:r>
                          <a:rPr lang="en-US" b="0" i="1" smtClean="0">
                            <a:solidFill>
                              <a:schemeClr val="bg2">
                                <a:lumMod val="50000"/>
                              </a:schemeClr>
                            </a:solidFill>
                            <a:latin typeface="Cambria Math" panose="02040503050406030204" pitchFamily="18" charset="0"/>
                            <a:ea typeface="Cambria Math" panose="02040503050406030204" pitchFamily="18" charset="0"/>
                          </a:rPr>
                          <m:t>𝑙𝑜𝑤</m:t>
                        </m:r>
                      </m:sub>
                    </m:sSub>
                  </m:oMath>
                </a14:m>
                <a:endParaRPr lang="en-US" dirty="0">
                  <a:solidFill>
                    <a:schemeClr val="bg2">
                      <a:lumMod val="50000"/>
                    </a:schemeClr>
                  </a:solidFill>
                </a:endParaRPr>
              </a:p>
              <a:p>
                <a:pPr algn="ctr"/>
                <a:endParaRPr lang="en-US" dirty="0">
                  <a:solidFill>
                    <a:schemeClr val="bg2">
                      <a:lumMod val="50000"/>
                    </a:schemeClr>
                  </a:solidFill>
                </a:endParaRPr>
              </a:p>
              <a:p>
                <a:pPr algn="just"/>
                <a:endParaRPr lang="en-US" dirty="0">
                  <a:solidFill>
                    <a:schemeClr val="bg2">
                      <a:lumMod val="50000"/>
                    </a:schemeClr>
                  </a:solidFill>
                </a:endParaRPr>
              </a:p>
              <a:p>
                <a:pPr algn="just"/>
                <a:r>
                  <a:rPr lang="en-US" b="1" dirty="0">
                    <a:solidFill>
                      <a:schemeClr val="bg2">
                        <a:lumMod val="50000"/>
                      </a:schemeClr>
                    </a:solidFill>
                  </a:rPr>
                  <a:t>Alternative Hypothesis (</a:t>
                </a:r>
                <a14:m>
                  <m:oMath xmlns:m="http://schemas.openxmlformats.org/officeDocument/2006/math">
                    <m:sSub>
                      <m:sSubPr>
                        <m:ctrlPr>
                          <a:rPr lang="en-US" b="1" i="1" smtClean="0">
                            <a:solidFill>
                              <a:schemeClr val="bg2">
                                <a:lumMod val="50000"/>
                              </a:schemeClr>
                            </a:solidFill>
                            <a:latin typeface="Cambria Math" panose="02040503050406030204" pitchFamily="18" charset="0"/>
                          </a:rPr>
                        </m:ctrlPr>
                      </m:sSubPr>
                      <m:e>
                        <m:r>
                          <a:rPr lang="en-US" b="1" i="1">
                            <a:solidFill>
                              <a:schemeClr val="bg2">
                                <a:lumMod val="50000"/>
                              </a:schemeClr>
                            </a:solidFill>
                            <a:latin typeface="Cambria Math" panose="02040503050406030204" pitchFamily="18" charset="0"/>
                          </a:rPr>
                          <m:t>𝑯</m:t>
                        </m:r>
                      </m:e>
                      <m:sub>
                        <m:r>
                          <a:rPr lang="en-US" b="1" i="1" smtClean="0">
                            <a:solidFill>
                              <a:schemeClr val="bg2">
                                <a:lumMod val="50000"/>
                              </a:schemeClr>
                            </a:solidFill>
                            <a:latin typeface="Cambria Math" panose="02040503050406030204" pitchFamily="18" charset="0"/>
                          </a:rPr>
                          <m:t>𝟏</m:t>
                        </m:r>
                      </m:sub>
                    </m:sSub>
                  </m:oMath>
                </a14:m>
                <a:r>
                  <a:rPr lang="en-US" b="1" dirty="0">
                    <a:solidFill>
                      <a:schemeClr val="bg2">
                        <a:lumMod val="50000"/>
                      </a:schemeClr>
                    </a:solidFill>
                  </a:rPr>
                  <a:t>): </a:t>
                </a:r>
                <a:r>
                  <a:rPr lang="en-US" dirty="0">
                    <a:solidFill>
                      <a:schemeClr val="bg2">
                        <a:lumMod val="50000"/>
                      </a:schemeClr>
                    </a:solidFill>
                  </a:rPr>
                  <a:t>There is a significant difference in the mean happiness scores between high-income and low-income countries, </a:t>
                </a:r>
              </a:p>
              <a:p>
                <a:pPr algn="just"/>
                <a14:m>
                  <m:oMathPara xmlns:m="http://schemas.openxmlformats.org/officeDocument/2006/math">
                    <m:oMathParaPr>
                      <m:jc m:val="centerGroup"/>
                    </m:oMathParaPr>
                    <m:oMath xmlns:m="http://schemas.openxmlformats.org/officeDocument/2006/math">
                      <m:sSub>
                        <m:sSubPr>
                          <m:ctrlPr>
                            <a:rPr lang="en-US" i="1">
                              <a:solidFill>
                                <a:schemeClr val="bg2">
                                  <a:lumMod val="50000"/>
                                </a:schemeClr>
                              </a:solidFill>
                              <a:latin typeface="Cambria Math" panose="02040503050406030204" pitchFamily="18" charset="0"/>
                            </a:rPr>
                          </m:ctrlPr>
                        </m:sSubPr>
                        <m:e>
                          <m:r>
                            <a:rPr lang="en-US" i="1">
                              <a:solidFill>
                                <a:schemeClr val="bg2">
                                  <a:lumMod val="50000"/>
                                </a:schemeClr>
                              </a:solidFill>
                              <a:latin typeface="Cambria Math" panose="02040503050406030204" pitchFamily="18" charset="0"/>
                            </a:rPr>
                            <m:t>𝐻</m:t>
                          </m:r>
                        </m:e>
                        <m:sub>
                          <m:r>
                            <a:rPr lang="en-US" b="0" i="1" smtClean="0">
                              <a:solidFill>
                                <a:schemeClr val="bg2">
                                  <a:lumMod val="50000"/>
                                </a:schemeClr>
                              </a:solidFill>
                              <a:latin typeface="Cambria Math" panose="02040503050406030204" pitchFamily="18" charset="0"/>
                            </a:rPr>
                            <m:t>1</m:t>
                          </m:r>
                        </m:sub>
                      </m:sSub>
                      <m:r>
                        <a:rPr lang="en-US" i="1">
                          <a:solidFill>
                            <a:schemeClr val="bg2">
                              <a:lumMod val="50000"/>
                            </a:schemeClr>
                          </a:solidFill>
                          <a:latin typeface="Cambria Math" panose="02040503050406030204" pitchFamily="18" charset="0"/>
                        </a:rPr>
                        <m:t>:</m:t>
                      </m:r>
                      <m:sSub>
                        <m:sSubPr>
                          <m:ctrlPr>
                            <a:rPr lang="en-US" i="1">
                              <a:solidFill>
                                <a:schemeClr val="bg2">
                                  <a:lumMod val="50000"/>
                                </a:schemeClr>
                              </a:solidFill>
                              <a:latin typeface="Cambria Math" panose="02040503050406030204" pitchFamily="18" charset="0"/>
                            </a:rPr>
                          </m:ctrlPr>
                        </m:sSubPr>
                        <m:e>
                          <m:r>
                            <a:rPr lang="en-US" i="1">
                              <a:solidFill>
                                <a:schemeClr val="bg2">
                                  <a:lumMod val="50000"/>
                                </a:schemeClr>
                              </a:solidFill>
                              <a:latin typeface="Cambria Math" panose="02040503050406030204" pitchFamily="18" charset="0"/>
                            </a:rPr>
                            <m:t> </m:t>
                          </m:r>
                          <m:r>
                            <a:rPr lang="en-US" i="1">
                              <a:solidFill>
                                <a:schemeClr val="bg2">
                                  <a:lumMod val="50000"/>
                                </a:schemeClr>
                              </a:solidFill>
                              <a:latin typeface="Cambria Math" panose="02040503050406030204" pitchFamily="18" charset="0"/>
                              <a:ea typeface="Cambria Math" panose="02040503050406030204" pitchFamily="18" charset="0"/>
                            </a:rPr>
                            <m:t>𝜇</m:t>
                          </m:r>
                        </m:e>
                        <m:sub>
                          <m:r>
                            <a:rPr lang="en-US" i="1">
                              <a:solidFill>
                                <a:schemeClr val="bg2">
                                  <a:lumMod val="50000"/>
                                </a:schemeClr>
                              </a:solidFill>
                              <a:latin typeface="Cambria Math" panose="02040503050406030204" pitchFamily="18" charset="0"/>
                            </a:rPr>
                            <m:t>h𝑖𝑔h</m:t>
                          </m:r>
                        </m:sub>
                      </m:sSub>
                      <m:r>
                        <a:rPr lang="en-US" i="1" smtClean="0">
                          <a:solidFill>
                            <a:schemeClr val="bg2">
                              <a:lumMod val="50000"/>
                            </a:schemeClr>
                          </a:solidFill>
                          <a:latin typeface="Cambria Math" panose="02040503050406030204" pitchFamily="18" charset="0"/>
                          <a:ea typeface="Cambria Math" panose="02040503050406030204" pitchFamily="18" charset="0"/>
                        </a:rPr>
                        <m:t>≠</m:t>
                      </m:r>
                      <m:sSub>
                        <m:sSubPr>
                          <m:ctrlPr>
                            <a:rPr lang="en-US" i="1">
                              <a:solidFill>
                                <a:schemeClr val="bg2">
                                  <a:lumMod val="50000"/>
                                </a:schemeClr>
                              </a:solidFill>
                              <a:latin typeface="Cambria Math" panose="02040503050406030204" pitchFamily="18" charset="0"/>
                            </a:rPr>
                          </m:ctrlPr>
                        </m:sSubPr>
                        <m:e>
                          <m:r>
                            <a:rPr lang="en-US" i="1">
                              <a:solidFill>
                                <a:schemeClr val="bg2">
                                  <a:lumMod val="50000"/>
                                </a:schemeClr>
                              </a:solidFill>
                              <a:latin typeface="Cambria Math" panose="02040503050406030204" pitchFamily="18" charset="0"/>
                              <a:ea typeface="Cambria Math" panose="02040503050406030204" pitchFamily="18" charset="0"/>
                            </a:rPr>
                            <m:t>𝜇</m:t>
                          </m:r>
                        </m:e>
                        <m:sub>
                          <m:r>
                            <a:rPr lang="en-US" i="1">
                              <a:solidFill>
                                <a:schemeClr val="bg2">
                                  <a:lumMod val="50000"/>
                                </a:schemeClr>
                              </a:solidFill>
                              <a:latin typeface="Cambria Math" panose="02040503050406030204" pitchFamily="18" charset="0"/>
                              <a:ea typeface="Cambria Math" panose="02040503050406030204" pitchFamily="18" charset="0"/>
                            </a:rPr>
                            <m:t>𝑙𝑜𝑤</m:t>
                          </m:r>
                        </m:sub>
                      </m:sSub>
                    </m:oMath>
                  </m:oMathPara>
                </a14:m>
                <a:endParaRPr lang="en-US" dirty="0">
                  <a:solidFill>
                    <a:schemeClr val="bg2">
                      <a:lumMod val="50000"/>
                    </a:schemeClr>
                  </a:solidFill>
                </a:endParaRPr>
              </a:p>
            </p:txBody>
          </p:sp>
        </mc:Choice>
        <mc:Fallback xmlns="">
          <p:sp>
            <p:nvSpPr>
              <p:cNvPr id="17" name="TextBox 16">
                <a:extLst>
                  <a:ext uri="{FF2B5EF4-FFF2-40B4-BE49-F238E27FC236}">
                    <a16:creationId xmlns:a16="http://schemas.microsoft.com/office/drawing/2014/main" id="{4968BE2C-5CD0-310B-A349-6100ED5F59EF}"/>
                  </a:ext>
                </a:extLst>
              </p:cNvPr>
              <p:cNvSpPr txBox="1">
                <a:spLocks noRot="1" noChangeAspect="1" noMove="1" noResize="1" noEditPoints="1" noAdjustHandles="1" noChangeArrowheads="1" noChangeShapeType="1" noTextEdit="1"/>
              </p:cNvSpPr>
              <p:nvPr/>
            </p:nvSpPr>
            <p:spPr>
              <a:xfrm>
                <a:off x="5203480" y="1975268"/>
                <a:ext cx="6448330" cy="2907463"/>
              </a:xfrm>
              <a:prstGeom prst="rect">
                <a:avLst/>
              </a:prstGeom>
              <a:blipFill>
                <a:blip r:embed="rId4"/>
                <a:stretch>
                  <a:fillRect l="-851" t="-839" r="-851" b="-419"/>
                </a:stretch>
              </a:blipFill>
            </p:spPr>
            <p:txBody>
              <a:bodyPr/>
              <a:lstStyle/>
              <a:p>
                <a:r>
                  <a:rPr lang="en-US">
                    <a:noFill/>
                  </a:rPr>
                  <a:t> </a:t>
                </a:r>
              </a:p>
            </p:txBody>
          </p:sp>
        </mc:Fallback>
      </mc:AlternateContent>
    </p:spTree>
    <p:extLst>
      <p:ext uri="{BB962C8B-B14F-4D97-AF65-F5344CB8AC3E}">
        <p14:creationId xmlns:p14="http://schemas.microsoft.com/office/powerpoint/2010/main" val="2321615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99F78-B0A8-0890-20C2-367E1E6CD5F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21CCFC-E60B-8209-AA91-B1C69DFE9746}"/>
              </a:ext>
            </a:extLst>
          </p:cNvPr>
          <p:cNvSpPr>
            <a:spLocks noGrp="1"/>
          </p:cNvSpPr>
          <p:nvPr>
            <p:ph type="ctrTitle"/>
          </p:nvPr>
        </p:nvSpPr>
        <p:spPr>
          <a:xfrm>
            <a:off x="535342" y="301820"/>
            <a:ext cx="10274496" cy="656418"/>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Conditions to Make Inference</a:t>
            </a:r>
          </a:p>
        </p:txBody>
      </p:sp>
      <p:sp>
        <p:nvSpPr>
          <p:cNvPr id="6" name="TextBox 5">
            <a:extLst>
              <a:ext uri="{FF2B5EF4-FFF2-40B4-BE49-F238E27FC236}">
                <a16:creationId xmlns:a16="http://schemas.microsoft.com/office/drawing/2014/main" id="{50CAC78C-2056-0F54-6AFA-237719B0BB3C}"/>
              </a:ext>
            </a:extLst>
          </p:cNvPr>
          <p:cNvSpPr txBox="1"/>
          <p:nvPr/>
        </p:nvSpPr>
        <p:spPr>
          <a:xfrm>
            <a:off x="510605" y="1109902"/>
            <a:ext cx="11170789" cy="4524315"/>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2">
                    <a:lumMod val="50000"/>
                  </a:schemeClr>
                </a:solidFill>
              </a:rPr>
              <a:t>Independence: we assume World Happiness Data collection method ensures independent sampling and the data has been collected randomly</a:t>
            </a: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r>
              <a:rPr lang="en-US" dirty="0">
                <a:solidFill>
                  <a:schemeClr val="bg2">
                    <a:lumMod val="50000"/>
                  </a:schemeClr>
                </a:solidFill>
              </a:rPr>
              <a:t>Sample size: we can investigate the sample size using the following code. According to the income group sizes, the “High” and “Low” groups both have above 30 observations (433 and 435, respectively), meeting the sample size requirement</a:t>
            </a: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r>
              <a:rPr lang="en-US" dirty="0">
                <a:solidFill>
                  <a:schemeClr val="bg2">
                    <a:lumMod val="50000"/>
                  </a:schemeClr>
                </a:solidFill>
              </a:rPr>
              <a:t>Normality: The distribution looks nearly normal</a:t>
            </a:r>
          </a:p>
          <a:p>
            <a:pPr marL="285750" indent="-285750">
              <a:buFont typeface="Arial" panose="020B0604020202020204" pitchFamily="34" charset="0"/>
              <a:buChar char="•"/>
            </a:pPr>
            <a:endParaRPr lang="en-US" dirty="0">
              <a:solidFill>
                <a:schemeClr val="bg2">
                  <a:lumMod val="50000"/>
                </a:schemeClr>
              </a:solidFill>
            </a:endParaRPr>
          </a:p>
        </p:txBody>
      </p:sp>
      <p:pic>
        <p:nvPicPr>
          <p:cNvPr id="11" name="Picture 10">
            <a:extLst>
              <a:ext uri="{FF2B5EF4-FFF2-40B4-BE49-F238E27FC236}">
                <a16:creationId xmlns:a16="http://schemas.microsoft.com/office/drawing/2014/main" id="{2225D924-F5C7-BA7E-6D31-8D0838C5726C}"/>
              </a:ext>
            </a:extLst>
          </p:cNvPr>
          <p:cNvPicPr>
            <a:picLocks noChangeAspect="1"/>
          </p:cNvPicPr>
          <p:nvPr/>
        </p:nvPicPr>
        <p:blipFill>
          <a:blip r:embed="rId3"/>
          <a:stretch>
            <a:fillRect/>
          </a:stretch>
        </p:blipFill>
        <p:spPr>
          <a:xfrm>
            <a:off x="885824" y="3037815"/>
            <a:ext cx="5981700" cy="1600200"/>
          </a:xfrm>
          <a:prstGeom prst="rect">
            <a:avLst/>
          </a:prstGeom>
        </p:spPr>
      </p:pic>
      <p:pic>
        <p:nvPicPr>
          <p:cNvPr id="17" name="Picture 16">
            <a:extLst>
              <a:ext uri="{FF2B5EF4-FFF2-40B4-BE49-F238E27FC236}">
                <a16:creationId xmlns:a16="http://schemas.microsoft.com/office/drawing/2014/main" id="{28D7A7C5-C26A-7FC1-4FE0-D4CBCC4D1B26}"/>
              </a:ext>
            </a:extLst>
          </p:cNvPr>
          <p:cNvPicPr>
            <a:picLocks noChangeAspect="1"/>
          </p:cNvPicPr>
          <p:nvPr/>
        </p:nvPicPr>
        <p:blipFill>
          <a:blip r:embed="rId4"/>
          <a:stretch>
            <a:fillRect/>
          </a:stretch>
        </p:blipFill>
        <p:spPr>
          <a:xfrm>
            <a:off x="7566163" y="3372059"/>
            <a:ext cx="3416591" cy="3339860"/>
          </a:xfrm>
          <a:prstGeom prst="rect">
            <a:avLst/>
          </a:prstGeom>
        </p:spPr>
      </p:pic>
    </p:spTree>
    <p:extLst>
      <p:ext uri="{BB962C8B-B14F-4D97-AF65-F5344CB8AC3E}">
        <p14:creationId xmlns:p14="http://schemas.microsoft.com/office/powerpoint/2010/main" val="3119161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D820C-1785-ED33-3227-9C42E87064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51448F4-743C-CC04-DEA4-8F7F0363C417}"/>
              </a:ext>
            </a:extLst>
          </p:cNvPr>
          <p:cNvSpPr>
            <a:spLocks noGrp="1"/>
          </p:cNvSpPr>
          <p:nvPr>
            <p:ph type="ctrTitle"/>
          </p:nvPr>
        </p:nvSpPr>
        <p:spPr>
          <a:xfrm>
            <a:off x="535342" y="301819"/>
            <a:ext cx="10274496" cy="921963"/>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Calculating Observed Difference and Simulating the Test on Null Distribution</a:t>
            </a:r>
          </a:p>
        </p:txBody>
      </p:sp>
      <p:sp>
        <p:nvSpPr>
          <p:cNvPr id="6" name="TextBox 5">
            <a:extLst>
              <a:ext uri="{FF2B5EF4-FFF2-40B4-BE49-F238E27FC236}">
                <a16:creationId xmlns:a16="http://schemas.microsoft.com/office/drawing/2014/main" id="{55D0F512-02D1-AEF2-B5D9-572CE31F812E}"/>
              </a:ext>
            </a:extLst>
          </p:cNvPr>
          <p:cNvSpPr txBox="1"/>
          <p:nvPr/>
        </p:nvSpPr>
        <p:spPr>
          <a:xfrm>
            <a:off x="510605" y="1109902"/>
            <a:ext cx="11170789" cy="4247317"/>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2">
                    <a:lumMod val="50000"/>
                  </a:schemeClr>
                </a:solidFill>
              </a:rPr>
              <a:t>The observed difference is calculated as follows:</a:t>
            </a: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r>
              <a:rPr lang="en-US" dirty="0">
                <a:solidFill>
                  <a:schemeClr val="bg2">
                    <a:lumMod val="50000"/>
                  </a:schemeClr>
                </a:solidFill>
              </a:rPr>
              <a:t>The null distribution is shown below:</a:t>
            </a: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p:txBody>
      </p:sp>
      <p:pic>
        <p:nvPicPr>
          <p:cNvPr id="3" name="Picture 2">
            <a:extLst>
              <a:ext uri="{FF2B5EF4-FFF2-40B4-BE49-F238E27FC236}">
                <a16:creationId xmlns:a16="http://schemas.microsoft.com/office/drawing/2014/main" id="{BADC8E57-FBCB-08E7-E4E7-546846BEA107}"/>
              </a:ext>
            </a:extLst>
          </p:cNvPr>
          <p:cNvPicPr>
            <a:picLocks noChangeAspect="1"/>
          </p:cNvPicPr>
          <p:nvPr/>
        </p:nvPicPr>
        <p:blipFill>
          <a:blip r:embed="rId3"/>
          <a:stretch>
            <a:fillRect/>
          </a:stretch>
        </p:blipFill>
        <p:spPr>
          <a:xfrm>
            <a:off x="888937" y="1502167"/>
            <a:ext cx="4076700" cy="2314575"/>
          </a:xfrm>
          <a:prstGeom prst="rect">
            <a:avLst/>
          </a:prstGeom>
        </p:spPr>
      </p:pic>
      <p:pic>
        <p:nvPicPr>
          <p:cNvPr id="7" name="Picture 6">
            <a:extLst>
              <a:ext uri="{FF2B5EF4-FFF2-40B4-BE49-F238E27FC236}">
                <a16:creationId xmlns:a16="http://schemas.microsoft.com/office/drawing/2014/main" id="{9BABE1AF-47A9-513C-6F87-B43964010D0D}"/>
              </a:ext>
            </a:extLst>
          </p:cNvPr>
          <p:cNvPicPr>
            <a:picLocks noChangeAspect="1"/>
          </p:cNvPicPr>
          <p:nvPr/>
        </p:nvPicPr>
        <p:blipFill>
          <a:blip r:embed="rId4"/>
          <a:stretch>
            <a:fillRect/>
          </a:stretch>
        </p:blipFill>
        <p:spPr>
          <a:xfrm>
            <a:off x="888937" y="4519612"/>
            <a:ext cx="6038850" cy="1933575"/>
          </a:xfrm>
          <a:prstGeom prst="rect">
            <a:avLst/>
          </a:prstGeom>
        </p:spPr>
      </p:pic>
      <p:pic>
        <p:nvPicPr>
          <p:cNvPr id="12" name="Picture 11" descr="A graph of a graph with Willis Tower in the background&#10;&#10;AI-generated content may be incorrect.">
            <a:extLst>
              <a:ext uri="{FF2B5EF4-FFF2-40B4-BE49-F238E27FC236}">
                <a16:creationId xmlns:a16="http://schemas.microsoft.com/office/drawing/2014/main" id="{76E86D22-0086-552C-14A0-35342C31A8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27787" y="1952625"/>
            <a:ext cx="4921231" cy="4784531"/>
          </a:xfrm>
          <a:prstGeom prst="rect">
            <a:avLst/>
          </a:prstGeom>
        </p:spPr>
      </p:pic>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6164903A-2115-6FC2-5FD9-3B28057C0B8E}"/>
                  </a:ext>
                </a:extLst>
              </p14:cNvPr>
              <p14:cNvContentPartPr/>
              <p14:nvPr/>
            </p14:nvContentPartPr>
            <p14:xfrm flipH="1">
              <a:off x="1219200" y="3647865"/>
              <a:ext cx="485640" cy="28440"/>
            </p14:xfrm>
          </p:contentPart>
        </mc:Choice>
        <mc:Fallback xmlns="">
          <p:pic>
            <p:nvPicPr>
              <p:cNvPr id="18" name="Ink 17">
                <a:extLst>
                  <a:ext uri="{FF2B5EF4-FFF2-40B4-BE49-F238E27FC236}">
                    <a16:creationId xmlns:a16="http://schemas.microsoft.com/office/drawing/2014/main" id="{6164903A-2115-6FC2-5FD9-3B28057C0B8E}"/>
                  </a:ext>
                </a:extLst>
              </p:cNvPr>
              <p:cNvPicPr/>
              <p:nvPr/>
            </p:nvPicPr>
            <p:blipFill>
              <a:blip r:embed="rId7"/>
              <a:stretch>
                <a:fillRect/>
              </a:stretch>
            </p:blipFill>
            <p:spPr>
              <a:xfrm flipH="1">
                <a:off x="1165560" y="3541215"/>
                <a:ext cx="593280" cy="241385"/>
              </a:xfrm>
              <a:prstGeom prst="rect">
                <a:avLst/>
              </a:prstGeom>
            </p:spPr>
          </p:pic>
        </mc:Fallback>
      </mc:AlternateContent>
    </p:spTree>
    <p:extLst>
      <p:ext uri="{BB962C8B-B14F-4D97-AF65-F5344CB8AC3E}">
        <p14:creationId xmlns:p14="http://schemas.microsoft.com/office/powerpoint/2010/main" val="2808873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1C6C5-C32A-73B0-6539-2272EF57B6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467202A-179F-9CF1-6F07-43602605E3B6}"/>
              </a:ext>
            </a:extLst>
          </p:cNvPr>
          <p:cNvSpPr>
            <a:spLocks noGrp="1"/>
          </p:cNvSpPr>
          <p:nvPr>
            <p:ph type="ctrTitle"/>
          </p:nvPr>
        </p:nvSpPr>
        <p:spPr>
          <a:xfrm>
            <a:off x="535342" y="301820"/>
            <a:ext cx="10274496" cy="524114"/>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p-value</a:t>
            </a:r>
          </a:p>
        </p:txBody>
      </p:sp>
      <p:sp>
        <p:nvSpPr>
          <p:cNvPr id="6" name="TextBox 5">
            <a:extLst>
              <a:ext uri="{FF2B5EF4-FFF2-40B4-BE49-F238E27FC236}">
                <a16:creationId xmlns:a16="http://schemas.microsoft.com/office/drawing/2014/main" id="{DF11D2D1-3DC0-9EF0-1CC0-B4D567C41697}"/>
              </a:ext>
            </a:extLst>
          </p:cNvPr>
          <p:cNvSpPr txBox="1"/>
          <p:nvPr/>
        </p:nvSpPr>
        <p:spPr>
          <a:xfrm>
            <a:off x="510605" y="1109902"/>
            <a:ext cx="11170789" cy="3970318"/>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2">
                    <a:lumMod val="50000"/>
                  </a:schemeClr>
                </a:solidFill>
              </a:rPr>
              <a:t>P-value calculation: </a:t>
            </a: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endParaRPr lang="en-US" dirty="0">
              <a:solidFill>
                <a:schemeClr val="bg2">
                  <a:lumMod val="50000"/>
                </a:schemeClr>
              </a:solidFill>
            </a:endParaRPr>
          </a:p>
          <a:p>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lgn="just">
              <a:buFont typeface="Arial" panose="020B0604020202020204" pitchFamily="34" charset="0"/>
              <a:buChar char="•"/>
            </a:pPr>
            <a:r>
              <a:rPr lang="en-US" dirty="0">
                <a:solidFill>
                  <a:schemeClr val="bg2">
                    <a:lumMod val="50000"/>
                  </a:schemeClr>
                </a:solidFill>
              </a:rPr>
              <a:t>This strongly suggests that we reject the null hypothesis in favor of the alternative hypothesis, which implies that </a:t>
            </a:r>
            <a:r>
              <a:rPr lang="en-US" b="1" dirty="0">
                <a:solidFill>
                  <a:schemeClr val="bg2">
                    <a:lumMod val="50000"/>
                  </a:schemeClr>
                </a:solidFill>
              </a:rPr>
              <a:t>there is a significant difference in happiness scores between high-income and low-income countries</a:t>
            </a:r>
            <a:r>
              <a:rPr lang="en-US" dirty="0">
                <a:solidFill>
                  <a:schemeClr val="bg2">
                    <a:lumMod val="50000"/>
                  </a:schemeClr>
                </a:solidFill>
              </a:rPr>
              <a:t>.</a:t>
            </a: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p:txBody>
      </p:sp>
      <p:pic>
        <p:nvPicPr>
          <p:cNvPr id="4" name="Picture 3">
            <a:extLst>
              <a:ext uri="{FF2B5EF4-FFF2-40B4-BE49-F238E27FC236}">
                <a16:creationId xmlns:a16="http://schemas.microsoft.com/office/drawing/2014/main" id="{C730D1B2-63D4-6645-5D3D-E5F9034DCAD5}"/>
              </a:ext>
            </a:extLst>
          </p:cNvPr>
          <p:cNvPicPr>
            <a:picLocks noChangeAspect="1"/>
          </p:cNvPicPr>
          <p:nvPr/>
        </p:nvPicPr>
        <p:blipFill>
          <a:blip r:embed="rId3"/>
          <a:stretch>
            <a:fillRect/>
          </a:stretch>
        </p:blipFill>
        <p:spPr>
          <a:xfrm>
            <a:off x="636430" y="1661499"/>
            <a:ext cx="6048375" cy="1371600"/>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1AB84CB-FF96-42FB-5107-FC215D59BB04}"/>
                  </a:ext>
                </a:extLst>
              </p14:cNvPr>
              <p14:cNvContentPartPr/>
              <p14:nvPr/>
            </p14:nvContentPartPr>
            <p14:xfrm>
              <a:off x="1239983" y="2857545"/>
              <a:ext cx="384120" cy="87120"/>
            </p14:xfrm>
          </p:contentPart>
        </mc:Choice>
        <mc:Fallback xmlns="">
          <p:pic>
            <p:nvPicPr>
              <p:cNvPr id="8" name="Ink 7">
                <a:extLst>
                  <a:ext uri="{FF2B5EF4-FFF2-40B4-BE49-F238E27FC236}">
                    <a16:creationId xmlns:a16="http://schemas.microsoft.com/office/drawing/2014/main" id="{11AB84CB-FF96-42FB-5107-FC215D59BB04}"/>
                  </a:ext>
                </a:extLst>
              </p:cNvPr>
              <p:cNvPicPr/>
              <p:nvPr/>
            </p:nvPicPr>
            <p:blipFill>
              <a:blip r:embed="rId5"/>
              <a:stretch>
                <a:fillRect/>
              </a:stretch>
            </p:blipFill>
            <p:spPr>
              <a:xfrm>
                <a:off x="1185983" y="2749905"/>
                <a:ext cx="491760" cy="302760"/>
              </a:xfrm>
              <a:prstGeom prst="rect">
                <a:avLst/>
              </a:prstGeom>
            </p:spPr>
          </p:pic>
        </mc:Fallback>
      </mc:AlternateContent>
    </p:spTree>
    <p:extLst>
      <p:ext uri="{BB962C8B-B14F-4D97-AF65-F5344CB8AC3E}">
        <p14:creationId xmlns:p14="http://schemas.microsoft.com/office/powerpoint/2010/main" val="2856724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48A6F-3BFA-038E-05F0-8373CF33D8B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6D18C7A-82BA-F364-B3BB-E1DE9B9C9813}"/>
              </a:ext>
            </a:extLst>
          </p:cNvPr>
          <p:cNvSpPr>
            <a:spLocks noGrp="1"/>
          </p:cNvSpPr>
          <p:nvPr>
            <p:ph type="ctrTitle"/>
          </p:nvPr>
        </p:nvSpPr>
        <p:spPr>
          <a:xfrm>
            <a:off x="510605" y="175361"/>
            <a:ext cx="10274496" cy="524114"/>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Conclusion</a:t>
            </a:r>
          </a:p>
        </p:txBody>
      </p:sp>
      <p:sp>
        <p:nvSpPr>
          <p:cNvPr id="6" name="TextBox 5">
            <a:extLst>
              <a:ext uri="{FF2B5EF4-FFF2-40B4-BE49-F238E27FC236}">
                <a16:creationId xmlns:a16="http://schemas.microsoft.com/office/drawing/2014/main" id="{874B0A72-72E3-197F-1549-89AADB226438}"/>
              </a:ext>
            </a:extLst>
          </p:cNvPr>
          <p:cNvSpPr txBox="1"/>
          <p:nvPr/>
        </p:nvSpPr>
        <p:spPr>
          <a:xfrm>
            <a:off x="510605" y="699475"/>
            <a:ext cx="11170789" cy="5632311"/>
          </a:xfrm>
          <a:prstGeom prst="rect">
            <a:avLst/>
          </a:prstGeom>
          <a:noFill/>
        </p:spPr>
        <p:txBody>
          <a:bodyPr wrap="square">
            <a:spAutoFit/>
          </a:bodyPr>
          <a:lstStyle/>
          <a:p>
            <a:pPr algn="just"/>
            <a:r>
              <a:rPr lang="en-US" b="1" dirty="0">
                <a:solidFill>
                  <a:schemeClr val="bg2">
                    <a:lumMod val="50000"/>
                  </a:schemeClr>
                </a:solidFill>
              </a:rPr>
              <a:t>This analysis is important because it-</a:t>
            </a:r>
          </a:p>
          <a:p>
            <a:pPr algn="just"/>
            <a:endParaRPr lang="en-US" b="1" dirty="0">
              <a:solidFill>
                <a:schemeClr val="bg2">
                  <a:lumMod val="50000"/>
                </a:schemeClr>
              </a:solidFill>
            </a:endParaRPr>
          </a:p>
          <a:p>
            <a:pPr marL="742950" lvl="1" indent="-285750" algn="just">
              <a:buFont typeface="Arial" panose="020B0604020202020204" pitchFamily="34" charset="0"/>
              <a:buChar char="•"/>
            </a:pPr>
            <a:r>
              <a:rPr lang="en-US" dirty="0">
                <a:solidFill>
                  <a:schemeClr val="bg2">
                    <a:lumMod val="50000"/>
                  </a:schemeClr>
                </a:solidFill>
              </a:rPr>
              <a:t>shows how economic, social, and governance factors impact national well-being. About 71% of the variation in happiness scores is explained by GDP, Social Support, Health, Freedom, Generosity, and Corruption</a:t>
            </a:r>
          </a:p>
          <a:p>
            <a:pPr marL="285750" indent="-285750" algn="just">
              <a:buFont typeface="Arial" panose="020B0604020202020204" pitchFamily="34" charset="0"/>
              <a:buChar char="•"/>
            </a:pPr>
            <a:endParaRPr lang="en-US" dirty="0">
              <a:solidFill>
                <a:schemeClr val="bg2">
                  <a:lumMod val="50000"/>
                </a:schemeClr>
              </a:solidFill>
            </a:endParaRPr>
          </a:p>
          <a:p>
            <a:pPr marL="742950" lvl="1" indent="-285750" algn="just">
              <a:buFont typeface="Arial" panose="020B0604020202020204" pitchFamily="34" charset="0"/>
              <a:buChar char="•"/>
            </a:pPr>
            <a:r>
              <a:rPr lang="en-US" dirty="0">
                <a:solidFill>
                  <a:schemeClr val="bg2">
                    <a:lumMod val="50000"/>
                  </a:schemeClr>
                </a:solidFill>
              </a:rPr>
              <a:t>confirms a significant disparity in happiness between high-income and low-income countries</a:t>
            </a:r>
          </a:p>
          <a:p>
            <a:pPr marL="285750" indent="-285750" algn="just">
              <a:buFont typeface="Arial" panose="020B0604020202020204" pitchFamily="34" charset="0"/>
              <a:buChar char="•"/>
            </a:pPr>
            <a:endParaRPr lang="en-US" dirty="0">
              <a:solidFill>
                <a:schemeClr val="bg2">
                  <a:lumMod val="50000"/>
                </a:schemeClr>
              </a:solidFill>
            </a:endParaRPr>
          </a:p>
          <a:p>
            <a:pPr algn="just"/>
            <a:r>
              <a:rPr lang="en-US" b="1" dirty="0">
                <a:solidFill>
                  <a:schemeClr val="bg2">
                    <a:lumMod val="50000"/>
                  </a:schemeClr>
                </a:solidFill>
              </a:rPr>
              <a:t>The limitations of this analysis-</a:t>
            </a:r>
          </a:p>
          <a:p>
            <a:pPr marL="285750" indent="-285750" algn="just">
              <a:buFont typeface="Arial" panose="020B0604020202020204" pitchFamily="34" charset="0"/>
              <a:buChar char="•"/>
            </a:pPr>
            <a:endParaRPr lang="en-US" dirty="0">
              <a:solidFill>
                <a:schemeClr val="bg2">
                  <a:lumMod val="50000"/>
                </a:schemeClr>
              </a:solidFill>
            </a:endParaRPr>
          </a:p>
          <a:p>
            <a:pPr marL="742950" lvl="1" indent="-285750" algn="just">
              <a:buFont typeface="Arial" panose="020B0604020202020204" pitchFamily="34" charset="0"/>
              <a:buChar char="•"/>
            </a:pPr>
            <a:r>
              <a:rPr lang="en-US" dirty="0">
                <a:solidFill>
                  <a:schemeClr val="bg2">
                    <a:lumMod val="50000"/>
                  </a:schemeClr>
                </a:solidFill>
              </a:rPr>
              <a:t>correlation does not imply causation. Correlation helps identify relationships (such as GDP vs. Score), but to prove causation- controlled experiments, longitudinal studies, strong theoretical backing, etc. are necessary</a:t>
            </a:r>
          </a:p>
          <a:p>
            <a:pPr marL="285750" indent="-285750" algn="just">
              <a:buFont typeface="Arial" panose="020B0604020202020204" pitchFamily="34" charset="0"/>
              <a:buChar char="•"/>
            </a:pPr>
            <a:endParaRPr lang="en-US" dirty="0">
              <a:solidFill>
                <a:schemeClr val="bg2">
                  <a:lumMod val="50000"/>
                </a:schemeClr>
              </a:solidFill>
            </a:endParaRPr>
          </a:p>
          <a:p>
            <a:pPr marL="742950" lvl="1" indent="-285750" algn="just">
              <a:buFont typeface="Arial" panose="020B0604020202020204" pitchFamily="34" charset="0"/>
              <a:buChar char="•"/>
            </a:pPr>
            <a:r>
              <a:rPr lang="en-US" dirty="0">
                <a:solidFill>
                  <a:schemeClr val="bg2">
                    <a:lumMod val="50000"/>
                  </a:schemeClr>
                </a:solidFill>
              </a:rPr>
              <a:t>not all factors that affect happiness are included — like culture, religion, or political stability, etc.</a:t>
            </a:r>
          </a:p>
          <a:p>
            <a:pPr marL="285750" indent="-285750" algn="just">
              <a:buFont typeface="Arial" panose="020B0604020202020204" pitchFamily="34" charset="0"/>
              <a:buChar char="•"/>
            </a:pPr>
            <a:endParaRPr lang="en-US" dirty="0">
              <a:solidFill>
                <a:schemeClr val="bg2">
                  <a:lumMod val="50000"/>
                </a:schemeClr>
              </a:solidFill>
            </a:endParaRPr>
          </a:p>
          <a:p>
            <a:pPr marL="742950" lvl="1" indent="-285750" algn="just">
              <a:buFont typeface="Arial" panose="020B0604020202020204" pitchFamily="34" charset="0"/>
              <a:buChar char="•"/>
            </a:pPr>
            <a:r>
              <a:rPr lang="en-US" dirty="0">
                <a:solidFill>
                  <a:schemeClr val="bg2">
                    <a:lumMod val="50000"/>
                  </a:schemeClr>
                </a:solidFill>
              </a:rPr>
              <a:t>a check for overfitting and underfitting is needed using methods like </a:t>
            </a:r>
            <a:r>
              <a:rPr lang="en-US">
                <a:solidFill>
                  <a:schemeClr val="bg2">
                    <a:lumMod val="50000"/>
                  </a:schemeClr>
                </a:solidFill>
              </a:rPr>
              <a:t>cross validation </a:t>
            </a:r>
            <a:endParaRPr lang="en-US" dirty="0">
              <a:solidFill>
                <a:schemeClr val="bg2">
                  <a:lumMod val="50000"/>
                </a:schemeClr>
              </a:solidFill>
            </a:endParaRPr>
          </a:p>
          <a:p>
            <a:pPr marL="285750" indent="-285750" algn="just">
              <a:buFont typeface="Arial" panose="020B0604020202020204" pitchFamily="34" charset="0"/>
              <a:buChar char="•"/>
            </a:pPr>
            <a:endParaRPr lang="en-US" dirty="0">
              <a:solidFill>
                <a:schemeClr val="bg2">
                  <a:lumMod val="50000"/>
                </a:schemeClr>
              </a:solidFill>
            </a:endParaRPr>
          </a:p>
          <a:p>
            <a:pPr marL="742950" lvl="1" indent="-285750" algn="just">
              <a:buFont typeface="Arial" panose="020B0604020202020204" pitchFamily="34" charset="0"/>
              <a:buChar char="•"/>
            </a:pPr>
            <a:r>
              <a:rPr lang="en-US" dirty="0">
                <a:solidFill>
                  <a:schemeClr val="bg2">
                    <a:lumMod val="50000"/>
                  </a:schemeClr>
                </a:solidFill>
              </a:rPr>
              <a:t>a time series analysis could better capture changes in happiness over time, especially in response to major events like COVID-19</a:t>
            </a:r>
          </a:p>
        </p:txBody>
      </p:sp>
    </p:spTree>
    <p:extLst>
      <p:ext uri="{BB962C8B-B14F-4D97-AF65-F5344CB8AC3E}">
        <p14:creationId xmlns:p14="http://schemas.microsoft.com/office/powerpoint/2010/main" val="1451809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6CC3E-9E48-F643-87C7-8C80BB86327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0CEC963-2C8A-91CC-F656-FD388C83B611}"/>
              </a:ext>
            </a:extLst>
          </p:cNvPr>
          <p:cNvSpPr>
            <a:spLocks noGrp="1"/>
          </p:cNvSpPr>
          <p:nvPr>
            <p:ph type="ctrTitle"/>
          </p:nvPr>
        </p:nvSpPr>
        <p:spPr>
          <a:xfrm>
            <a:off x="535342" y="301820"/>
            <a:ext cx="10274496" cy="820810"/>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Appendix A: Adding Categorical Variable “Region” to the Model</a:t>
            </a:r>
          </a:p>
        </p:txBody>
      </p:sp>
      <p:sp>
        <p:nvSpPr>
          <p:cNvPr id="9" name="TextBox 8">
            <a:extLst>
              <a:ext uri="{FF2B5EF4-FFF2-40B4-BE49-F238E27FC236}">
                <a16:creationId xmlns:a16="http://schemas.microsoft.com/office/drawing/2014/main" id="{6DC0B0EB-A2D0-B5DC-A797-583B3635A2A8}"/>
              </a:ext>
            </a:extLst>
          </p:cNvPr>
          <p:cNvSpPr txBox="1"/>
          <p:nvPr/>
        </p:nvSpPr>
        <p:spPr>
          <a:xfrm>
            <a:off x="533663" y="1225964"/>
            <a:ext cx="11190548" cy="369332"/>
          </a:xfrm>
          <a:prstGeom prst="rect">
            <a:avLst/>
          </a:prstGeom>
          <a:noFill/>
        </p:spPr>
        <p:txBody>
          <a:bodyPr wrap="square" rtlCol="0">
            <a:spAutoFit/>
          </a:bodyPr>
          <a:lstStyle/>
          <a:p>
            <a:r>
              <a:rPr lang="en-US" dirty="0"/>
              <a:t>Region data taken from: </a:t>
            </a:r>
            <a:r>
              <a:rPr lang="en-US" b="0" i="0" u="none" strike="noStrike" dirty="0" err="1">
                <a:solidFill>
                  <a:srgbClr val="0969DA"/>
                </a:solidFill>
                <a:effectLst/>
                <a:latin typeface="-apple-system"/>
                <a:hlinkClick r:id="rId3"/>
              </a:rPr>
              <a:t>PhilippeCodes</a:t>
            </a:r>
            <a:r>
              <a:rPr lang="en-US" b="0" i="0" dirty="0">
                <a:solidFill>
                  <a:srgbClr val="59636E"/>
                </a:solidFill>
                <a:effectLst/>
                <a:latin typeface="-apple-system"/>
              </a:rPr>
              <a:t>/</a:t>
            </a:r>
            <a:r>
              <a:rPr lang="en-US" b="1" i="0" u="sng" dirty="0">
                <a:solidFill>
                  <a:srgbClr val="0969DA"/>
                </a:solidFill>
                <a:effectLst/>
                <a:latin typeface="-apple-system"/>
                <a:hlinkClick r:id="rId4"/>
              </a:rPr>
              <a:t>World-Happiness-Report-Data-Analysis</a:t>
            </a:r>
            <a:endParaRPr lang="en-US" dirty="0"/>
          </a:p>
        </p:txBody>
      </p:sp>
      <p:pic>
        <p:nvPicPr>
          <p:cNvPr id="7" name="Picture 6">
            <a:extLst>
              <a:ext uri="{FF2B5EF4-FFF2-40B4-BE49-F238E27FC236}">
                <a16:creationId xmlns:a16="http://schemas.microsoft.com/office/drawing/2014/main" id="{22D0CAB7-C591-1094-8CDB-30BA30EB69B9}"/>
              </a:ext>
            </a:extLst>
          </p:cNvPr>
          <p:cNvPicPr>
            <a:picLocks noChangeAspect="1"/>
          </p:cNvPicPr>
          <p:nvPr/>
        </p:nvPicPr>
        <p:blipFill>
          <a:blip r:embed="rId5"/>
          <a:stretch>
            <a:fillRect/>
          </a:stretch>
        </p:blipFill>
        <p:spPr>
          <a:xfrm>
            <a:off x="535342" y="1738312"/>
            <a:ext cx="5103458" cy="4596187"/>
          </a:xfrm>
          <a:prstGeom prst="rect">
            <a:avLst/>
          </a:prstGeom>
        </p:spPr>
      </p:pic>
      <p:pic>
        <p:nvPicPr>
          <p:cNvPr id="10" name="Picture 9">
            <a:extLst>
              <a:ext uri="{FF2B5EF4-FFF2-40B4-BE49-F238E27FC236}">
                <a16:creationId xmlns:a16="http://schemas.microsoft.com/office/drawing/2014/main" id="{A737E0DD-9A60-6CE1-E0DD-F61B438A32DB}"/>
              </a:ext>
            </a:extLst>
          </p:cNvPr>
          <p:cNvPicPr>
            <a:picLocks noChangeAspect="1"/>
          </p:cNvPicPr>
          <p:nvPr/>
        </p:nvPicPr>
        <p:blipFill>
          <a:blip r:embed="rId6"/>
          <a:stretch>
            <a:fillRect/>
          </a:stretch>
        </p:blipFill>
        <p:spPr>
          <a:xfrm>
            <a:off x="6553202" y="1747439"/>
            <a:ext cx="5057775" cy="4808741"/>
          </a:xfrm>
          <a:prstGeom prst="rect">
            <a:avLst/>
          </a:prstGeom>
        </p:spPr>
      </p:pic>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C20D7B5F-96BB-61AB-717B-D44CB0634BAF}"/>
                  </a:ext>
                </a:extLst>
              </p14:cNvPr>
              <p14:cNvContentPartPr/>
              <p14:nvPr/>
            </p14:nvContentPartPr>
            <p14:xfrm>
              <a:off x="4435703" y="4480425"/>
              <a:ext cx="537480" cy="20520"/>
            </p14:xfrm>
          </p:contentPart>
        </mc:Choice>
        <mc:Fallback xmlns="">
          <p:pic>
            <p:nvPicPr>
              <p:cNvPr id="13" name="Ink 12">
                <a:extLst>
                  <a:ext uri="{FF2B5EF4-FFF2-40B4-BE49-F238E27FC236}">
                    <a16:creationId xmlns:a16="http://schemas.microsoft.com/office/drawing/2014/main" id="{C20D7B5F-96BB-61AB-717B-D44CB0634BAF}"/>
                  </a:ext>
                </a:extLst>
              </p:cNvPr>
              <p:cNvPicPr/>
              <p:nvPr/>
            </p:nvPicPr>
            <p:blipFill>
              <a:blip r:embed="rId8"/>
              <a:stretch>
                <a:fillRect/>
              </a:stretch>
            </p:blipFill>
            <p:spPr>
              <a:xfrm>
                <a:off x="4382063" y="4372425"/>
                <a:ext cx="6451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824A7280-DE2C-368A-DDC2-BE7EEFB0E5E2}"/>
                  </a:ext>
                </a:extLst>
              </p14:cNvPr>
              <p14:cNvContentPartPr/>
              <p14:nvPr/>
            </p14:nvContentPartPr>
            <p14:xfrm>
              <a:off x="4372343" y="4788945"/>
              <a:ext cx="614880" cy="19080"/>
            </p14:xfrm>
          </p:contentPart>
        </mc:Choice>
        <mc:Fallback xmlns="">
          <p:pic>
            <p:nvPicPr>
              <p:cNvPr id="14" name="Ink 13">
                <a:extLst>
                  <a:ext uri="{FF2B5EF4-FFF2-40B4-BE49-F238E27FC236}">
                    <a16:creationId xmlns:a16="http://schemas.microsoft.com/office/drawing/2014/main" id="{824A7280-DE2C-368A-DDC2-BE7EEFB0E5E2}"/>
                  </a:ext>
                </a:extLst>
              </p:cNvPr>
              <p:cNvPicPr/>
              <p:nvPr/>
            </p:nvPicPr>
            <p:blipFill>
              <a:blip r:embed="rId10"/>
              <a:stretch>
                <a:fillRect/>
              </a:stretch>
            </p:blipFill>
            <p:spPr>
              <a:xfrm>
                <a:off x="4318703" y="4680945"/>
                <a:ext cx="7225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6EBD45A0-406D-BBC7-A326-154E5628E7AE}"/>
                  </a:ext>
                </a:extLst>
              </p14:cNvPr>
              <p14:cNvContentPartPr/>
              <p14:nvPr/>
            </p14:nvContentPartPr>
            <p14:xfrm>
              <a:off x="533663" y="4480785"/>
              <a:ext cx="1427760" cy="28440"/>
            </p14:xfrm>
          </p:contentPart>
        </mc:Choice>
        <mc:Fallback xmlns="">
          <p:pic>
            <p:nvPicPr>
              <p:cNvPr id="15" name="Ink 14">
                <a:extLst>
                  <a:ext uri="{FF2B5EF4-FFF2-40B4-BE49-F238E27FC236}">
                    <a16:creationId xmlns:a16="http://schemas.microsoft.com/office/drawing/2014/main" id="{6EBD45A0-406D-BBC7-A326-154E5628E7AE}"/>
                  </a:ext>
                </a:extLst>
              </p:cNvPr>
              <p:cNvPicPr/>
              <p:nvPr/>
            </p:nvPicPr>
            <p:blipFill>
              <a:blip r:embed="rId12"/>
              <a:stretch>
                <a:fillRect/>
              </a:stretch>
            </p:blipFill>
            <p:spPr>
              <a:xfrm>
                <a:off x="480023" y="4372785"/>
                <a:ext cx="153540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0AC01941-27D5-A310-3CC0-5941FA836870}"/>
                  </a:ext>
                </a:extLst>
              </p14:cNvPr>
              <p14:cNvContentPartPr/>
              <p14:nvPr/>
            </p14:nvContentPartPr>
            <p14:xfrm>
              <a:off x="588023" y="4781025"/>
              <a:ext cx="932040" cy="45000"/>
            </p14:xfrm>
          </p:contentPart>
        </mc:Choice>
        <mc:Fallback xmlns="">
          <p:pic>
            <p:nvPicPr>
              <p:cNvPr id="16" name="Ink 15">
                <a:extLst>
                  <a:ext uri="{FF2B5EF4-FFF2-40B4-BE49-F238E27FC236}">
                    <a16:creationId xmlns:a16="http://schemas.microsoft.com/office/drawing/2014/main" id="{0AC01941-27D5-A310-3CC0-5941FA836870}"/>
                  </a:ext>
                </a:extLst>
              </p:cNvPr>
              <p:cNvPicPr/>
              <p:nvPr/>
            </p:nvPicPr>
            <p:blipFill>
              <a:blip r:embed="rId14"/>
              <a:stretch>
                <a:fillRect/>
              </a:stretch>
            </p:blipFill>
            <p:spPr>
              <a:xfrm>
                <a:off x="534023" y="4673385"/>
                <a:ext cx="1039680" cy="260640"/>
              </a:xfrm>
              <a:prstGeom prst="rect">
                <a:avLst/>
              </a:prstGeom>
            </p:spPr>
          </p:pic>
        </mc:Fallback>
      </mc:AlternateContent>
    </p:spTree>
    <p:extLst>
      <p:ext uri="{BB962C8B-B14F-4D97-AF65-F5344CB8AC3E}">
        <p14:creationId xmlns:p14="http://schemas.microsoft.com/office/powerpoint/2010/main" val="46898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2E70-F86C-A265-1560-897118B6FBB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C37045C-38DF-C909-08F6-6A0647370D4D}"/>
              </a:ext>
            </a:extLst>
          </p:cNvPr>
          <p:cNvSpPr>
            <a:spLocks noGrp="1"/>
          </p:cNvSpPr>
          <p:nvPr>
            <p:ph type="ctrTitle"/>
          </p:nvPr>
        </p:nvSpPr>
        <p:spPr>
          <a:xfrm>
            <a:off x="535342" y="301819"/>
            <a:ext cx="6370283" cy="1255517"/>
          </a:xfrm>
        </p:spPr>
        <p:txBody>
          <a:bodyPr>
            <a:noAutofit/>
          </a:bodyPr>
          <a:lstStyle/>
          <a:p>
            <a:pPr algn="l"/>
            <a:r>
              <a:rPr lang="en-US" sz="3200" b="1" dirty="0">
                <a:solidFill>
                  <a:schemeClr val="bg2">
                    <a:lumMod val="25000"/>
                  </a:schemeClr>
                </a:solidFill>
                <a:latin typeface="Calibri" panose="020F0502020204030204" pitchFamily="34" charset="0"/>
                <a:cs typeface="Calibri" panose="020F0502020204030204" pitchFamily="34" charset="0"/>
              </a:rPr>
              <a:t>Appendix B: Dimensionality Reduction for Dummy Variable “Region”</a:t>
            </a:r>
          </a:p>
        </p:txBody>
      </p:sp>
      <p:pic>
        <p:nvPicPr>
          <p:cNvPr id="3" name="Picture 2">
            <a:extLst>
              <a:ext uri="{FF2B5EF4-FFF2-40B4-BE49-F238E27FC236}">
                <a16:creationId xmlns:a16="http://schemas.microsoft.com/office/drawing/2014/main" id="{F7C6F2A7-5CAE-F039-A1D6-FD67AC950BF3}"/>
              </a:ext>
            </a:extLst>
          </p:cNvPr>
          <p:cNvPicPr>
            <a:picLocks noChangeAspect="1"/>
          </p:cNvPicPr>
          <p:nvPr/>
        </p:nvPicPr>
        <p:blipFill>
          <a:blip r:embed="rId3"/>
          <a:stretch>
            <a:fillRect/>
          </a:stretch>
        </p:blipFill>
        <p:spPr>
          <a:xfrm>
            <a:off x="581023" y="1557338"/>
            <a:ext cx="5212302" cy="4014788"/>
          </a:xfrm>
          <a:prstGeom prst="rect">
            <a:avLst/>
          </a:prstGeom>
        </p:spPr>
      </p:pic>
      <p:pic>
        <p:nvPicPr>
          <p:cNvPr id="6" name="Picture 5">
            <a:extLst>
              <a:ext uri="{FF2B5EF4-FFF2-40B4-BE49-F238E27FC236}">
                <a16:creationId xmlns:a16="http://schemas.microsoft.com/office/drawing/2014/main" id="{0701DA7F-3C99-EB04-CEAC-F88A557C504E}"/>
              </a:ext>
            </a:extLst>
          </p:cNvPr>
          <p:cNvPicPr>
            <a:picLocks noChangeAspect="1"/>
          </p:cNvPicPr>
          <p:nvPr/>
        </p:nvPicPr>
        <p:blipFill>
          <a:blip r:embed="rId4"/>
          <a:stretch>
            <a:fillRect/>
          </a:stretch>
        </p:blipFill>
        <p:spPr>
          <a:xfrm>
            <a:off x="6744643" y="177940"/>
            <a:ext cx="4065359" cy="3945366"/>
          </a:xfrm>
          <a:prstGeom prst="rect">
            <a:avLst/>
          </a:prstGeom>
        </p:spPr>
      </p:pic>
      <p:graphicFrame>
        <p:nvGraphicFramePr>
          <p:cNvPr id="8" name="Table 7">
            <a:extLst>
              <a:ext uri="{FF2B5EF4-FFF2-40B4-BE49-F238E27FC236}">
                <a16:creationId xmlns:a16="http://schemas.microsoft.com/office/drawing/2014/main" id="{6E1A15E2-C961-C9F4-0B4E-463C7C9C8253}"/>
              </a:ext>
            </a:extLst>
          </p:cNvPr>
          <p:cNvGraphicFramePr>
            <a:graphicFrameLocks noGrp="1"/>
          </p:cNvGraphicFramePr>
          <p:nvPr>
            <p:extLst>
              <p:ext uri="{D42A27DB-BD31-4B8C-83A1-F6EECF244321}">
                <p14:modId xmlns:p14="http://schemas.microsoft.com/office/powerpoint/2010/main" val="416518162"/>
              </p:ext>
            </p:extLst>
          </p:nvPr>
        </p:nvGraphicFramePr>
        <p:xfrm>
          <a:off x="5793326" y="4272140"/>
          <a:ext cx="6130088" cy="2407920"/>
        </p:xfrm>
        <a:graphic>
          <a:graphicData uri="http://schemas.openxmlformats.org/drawingml/2006/table">
            <a:tbl>
              <a:tblPr firstRow="1" bandRow="1">
                <a:tableStyleId>{5C22544A-7EE6-4342-B048-85BDC9FD1C3A}</a:tableStyleId>
              </a:tblPr>
              <a:tblGrid>
                <a:gridCol w="3824810">
                  <a:extLst>
                    <a:ext uri="{9D8B030D-6E8A-4147-A177-3AD203B41FA5}">
                      <a16:colId xmlns:a16="http://schemas.microsoft.com/office/drawing/2014/main" val="1421188998"/>
                    </a:ext>
                  </a:extLst>
                </a:gridCol>
                <a:gridCol w="1320159">
                  <a:extLst>
                    <a:ext uri="{9D8B030D-6E8A-4147-A177-3AD203B41FA5}">
                      <a16:colId xmlns:a16="http://schemas.microsoft.com/office/drawing/2014/main" val="1691127696"/>
                    </a:ext>
                  </a:extLst>
                </a:gridCol>
                <a:gridCol w="985119">
                  <a:extLst>
                    <a:ext uri="{9D8B030D-6E8A-4147-A177-3AD203B41FA5}">
                      <a16:colId xmlns:a16="http://schemas.microsoft.com/office/drawing/2014/main" val="2839229379"/>
                    </a:ext>
                  </a:extLst>
                </a:gridCol>
              </a:tblGrid>
              <a:tr h="353476">
                <a:tc>
                  <a:txBody>
                    <a:bodyPr/>
                    <a:lstStyle/>
                    <a:p>
                      <a:r>
                        <a:rPr lang="en-US" sz="1000" dirty="0"/>
                        <a:t>Factors</a:t>
                      </a:r>
                    </a:p>
                  </a:txBody>
                  <a:tcPr/>
                </a:tc>
                <a:tc>
                  <a:txBody>
                    <a:bodyPr/>
                    <a:lstStyle/>
                    <a:p>
                      <a:r>
                        <a:rPr lang="en-US" sz="1000" dirty="0">
                          <a:effectLst/>
                        </a:rPr>
                        <a:t>Adjusted R-squared </a:t>
                      </a:r>
                      <a:endParaRPr lang="en-US" sz="1000" dirty="0"/>
                    </a:p>
                  </a:txBody>
                  <a:tcPr/>
                </a:tc>
                <a:tc>
                  <a:txBody>
                    <a:bodyPr/>
                    <a:lstStyle/>
                    <a:p>
                      <a:r>
                        <a:rPr lang="en-US" sz="1000" dirty="0"/>
                        <a:t>Improvement</a:t>
                      </a:r>
                    </a:p>
                  </a:txBody>
                  <a:tcPr/>
                </a:tc>
                <a:extLst>
                  <a:ext uri="{0D108BD9-81ED-4DB2-BD59-A6C34878D82A}">
                    <a16:rowId xmlns:a16="http://schemas.microsoft.com/office/drawing/2014/main" val="1541011044"/>
                  </a:ext>
                </a:extLst>
              </a:tr>
              <a:tr h="217524">
                <a:tc>
                  <a:txBody>
                    <a:bodyPr/>
                    <a:lstStyle/>
                    <a:p>
                      <a:r>
                        <a:rPr lang="en-US" sz="1000" dirty="0"/>
                        <a:t>GDP</a:t>
                      </a:r>
                    </a:p>
                  </a:txBody>
                  <a:tcPr/>
                </a:tc>
                <a:tc>
                  <a:txBody>
                    <a:bodyPr/>
                    <a:lstStyle/>
                    <a:p>
                      <a:r>
                        <a:rPr lang="en-US" sz="1000" dirty="0"/>
                        <a:t>0.4736</a:t>
                      </a:r>
                    </a:p>
                  </a:txBody>
                  <a:tcPr/>
                </a:tc>
                <a:tc>
                  <a:txBody>
                    <a:bodyPr/>
                    <a:lstStyle/>
                    <a:p>
                      <a:r>
                        <a:rPr lang="en-US" sz="1000" dirty="0"/>
                        <a:t>-</a:t>
                      </a:r>
                    </a:p>
                  </a:txBody>
                  <a:tcPr/>
                </a:tc>
                <a:extLst>
                  <a:ext uri="{0D108BD9-81ED-4DB2-BD59-A6C34878D82A}">
                    <a16:rowId xmlns:a16="http://schemas.microsoft.com/office/drawing/2014/main" val="3263549796"/>
                  </a:ext>
                </a:extLst>
              </a:tr>
              <a:tr h="217524">
                <a:tc>
                  <a:txBody>
                    <a:bodyPr/>
                    <a:lstStyle/>
                    <a:p>
                      <a:r>
                        <a:rPr lang="en-US" sz="1000" dirty="0"/>
                        <a:t>GDP + Health</a:t>
                      </a:r>
                    </a:p>
                  </a:txBody>
                  <a:tcPr/>
                </a:tc>
                <a:tc>
                  <a:txBody>
                    <a:bodyPr/>
                    <a:lstStyle/>
                    <a:p>
                      <a:r>
                        <a:rPr lang="en-US" sz="1000" dirty="0"/>
                        <a:t>0.5985</a:t>
                      </a:r>
                    </a:p>
                  </a:txBody>
                  <a:tcPr/>
                </a:tc>
                <a:tc>
                  <a:txBody>
                    <a:bodyPr/>
                    <a:lstStyle/>
                    <a:p>
                      <a:r>
                        <a:rPr lang="en-US" sz="1000" dirty="0"/>
                        <a:t>26.37%</a:t>
                      </a:r>
                    </a:p>
                  </a:txBody>
                  <a:tcPr/>
                </a:tc>
                <a:extLst>
                  <a:ext uri="{0D108BD9-81ED-4DB2-BD59-A6C34878D82A}">
                    <a16:rowId xmlns:a16="http://schemas.microsoft.com/office/drawing/2014/main" val="666961944"/>
                  </a:ext>
                </a:extLst>
              </a:tr>
              <a:tr h="2175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GDP + Health + Freedom</a:t>
                      </a:r>
                    </a:p>
                  </a:txBody>
                  <a:tcPr/>
                </a:tc>
                <a:tc>
                  <a:txBody>
                    <a:bodyPr/>
                    <a:lstStyle/>
                    <a:p>
                      <a:r>
                        <a:rPr lang="en-US" sz="1000" dirty="0">
                          <a:effectLst/>
                        </a:rPr>
                        <a:t>0.659</a:t>
                      </a:r>
                      <a:endParaRPr lang="en-US" sz="1000" dirty="0"/>
                    </a:p>
                  </a:txBody>
                  <a:tcPr/>
                </a:tc>
                <a:tc>
                  <a:txBody>
                    <a:bodyPr/>
                    <a:lstStyle/>
                    <a:p>
                      <a:r>
                        <a:rPr lang="en-US" sz="1000" dirty="0"/>
                        <a:t>10.10%</a:t>
                      </a:r>
                    </a:p>
                  </a:txBody>
                  <a:tcPr/>
                </a:tc>
                <a:extLst>
                  <a:ext uri="{0D108BD9-81ED-4DB2-BD59-A6C34878D82A}">
                    <a16:rowId xmlns:a16="http://schemas.microsoft.com/office/drawing/2014/main" val="2197397011"/>
                  </a:ext>
                </a:extLst>
              </a:tr>
              <a:tr h="2175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GDP + Health + Freedom + Social Support</a:t>
                      </a:r>
                    </a:p>
                  </a:txBody>
                  <a:tcPr/>
                </a:tc>
                <a:tc>
                  <a:txBody>
                    <a:bodyPr/>
                    <a:lstStyle/>
                    <a:p>
                      <a:r>
                        <a:rPr lang="en-US" sz="1000" dirty="0">
                          <a:effectLst/>
                        </a:rPr>
                        <a:t>0.684</a:t>
                      </a:r>
                      <a:endParaRPr lang="en-US" sz="1000" dirty="0"/>
                    </a:p>
                  </a:txBody>
                  <a:tcPr/>
                </a:tc>
                <a:tc>
                  <a:txBody>
                    <a:bodyPr/>
                    <a:lstStyle/>
                    <a:p>
                      <a:r>
                        <a:rPr lang="en-US" sz="1000" dirty="0"/>
                        <a:t>3.79%</a:t>
                      </a:r>
                    </a:p>
                  </a:txBody>
                  <a:tcPr/>
                </a:tc>
                <a:extLst>
                  <a:ext uri="{0D108BD9-81ED-4DB2-BD59-A6C34878D82A}">
                    <a16:rowId xmlns:a16="http://schemas.microsoft.com/office/drawing/2014/main" val="1847754120"/>
                  </a:ext>
                </a:extLst>
              </a:tr>
              <a:tr h="2343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GDP + Health + Freedom + Social Support + Generosity</a:t>
                      </a:r>
                    </a:p>
                  </a:txBody>
                  <a:tcPr/>
                </a:tc>
                <a:tc>
                  <a:txBody>
                    <a:bodyPr/>
                    <a:lstStyle/>
                    <a:p>
                      <a:r>
                        <a:rPr lang="en-US" sz="1000" dirty="0">
                          <a:effectLst/>
                        </a:rPr>
                        <a:t>0.701</a:t>
                      </a:r>
                      <a:endParaRPr lang="en-US" sz="1000" dirty="0"/>
                    </a:p>
                  </a:txBody>
                  <a:tcPr/>
                </a:tc>
                <a:tc>
                  <a:txBody>
                    <a:bodyPr/>
                    <a:lstStyle/>
                    <a:p>
                      <a:r>
                        <a:rPr lang="en-US" sz="1000" dirty="0"/>
                        <a:t>2.49%</a:t>
                      </a:r>
                    </a:p>
                  </a:txBody>
                  <a:tcPr/>
                </a:tc>
                <a:extLst>
                  <a:ext uri="{0D108BD9-81ED-4DB2-BD59-A6C34878D82A}">
                    <a16:rowId xmlns:a16="http://schemas.microsoft.com/office/drawing/2014/main" val="3567979529"/>
                  </a:ext>
                </a:extLst>
              </a:tr>
              <a:tr h="3534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GDP + Health + Freedom + Social Support + Generosity + Corruption</a:t>
                      </a:r>
                    </a:p>
                  </a:txBody>
                  <a:tcPr/>
                </a:tc>
                <a:tc>
                  <a:txBody>
                    <a:bodyPr/>
                    <a:lstStyle/>
                    <a:p>
                      <a:r>
                        <a:rPr lang="en-US" sz="1000" dirty="0">
                          <a:effectLst/>
                        </a:rPr>
                        <a:t>0.7081</a:t>
                      </a:r>
                      <a:endParaRPr lang="en-US" sz="1000" dirty="0"/>
                    </a:p>
                  </a:txBody>
                  <a:tcPr/>
                </a:tc>
                <a:tc>
                  <a:txBody>
                    <a:bodyPr/>
                    <a:lstStyle/>
                    <a:p>
                      <a:r>
                        <a:rPr lang="en-US" sz="1000" dirty="0"/>
                        <a:t>1.01%</a:t>
                      </a:r>
                    </a:p>
                  </a:txBody>
                  <a:tcPr/>
                </a:tc>
                <a:extLst>
                  <a:ext uri="{0D108BD9-81ED-4DB2-BD59-A6C34878D82A}">
                    <a16:rowId xmlns:a16="http://schemas.microsoft.com/office/drawing/2014/main" val="2247901799"/>
                  </a:ext>
                </a:extLst>
              </a:tr>
              <a:tr h="3534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GDP + Health + Freedom + Social Support + Generosity + Corruption + Region Simplified</a:t>
                      </a:r>
                    </a:p>
                  </a:txBody>
                  <a:tcPr/>
                </a:tc>
                <a:tc>
                  <a:txBody>
                    <a:bodyPr/>
                    <a:lstStyle/>
                    <a:p>
                      <a:r>
                        <a:rPr lang="en-US" sz="1000" dirty="0">
                          <a:effectLst/>
                        </a:rPr>
                        <a:t>0.7579</a:t>
                      </a:r>
                      <a:endParaRPr lang="en-US" sz="1000" dirty="0"/>
                    </a:p>
                  </a:txBody>
                  <a:tcPr/>
                </a:tc>
                <a:tc>
                  <a:txBody>
                    <a:bodyPr/>
                    <a:lstStyle/>
                    <a:p>
                      <a:r>
                        <a:rPr lang="en-US" sz="1000" dirty="0"/>
                        <a:t>7.03%</a:t>
                      </a:r>
                    </a:p>
                  </a:txBody>
                  <a:tcPr/>
                </a:tc>
                <a:extLst>
                  <a:ext uri="{0D108BD9-81ED-4DB2-BD59-A6C34878D82A}">
                    <a16:rowId xmlns:a16="http://schemas.microsoft.com/office/drawing/2014/main" val="1481739710"/>
                  </a:ext>
                </a:extLst>
              </a:tr>
            </a:tbl>
          </a:graphicData>
        </a:graphic>
      </p:graphicFrame>
    </p:spTree>
    <p:extLst>
      <p:ext uri="{BB962C8B-B14F-4D97-AF65-F5344CB8AC3E}">
        <p14:creationId xmlns:p14="http://schemas.microsoft.com/office/powerpoint/2010/main" val="1460290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C362-45F8-03B0-1870-8C596DCC28E6}"/>
              </a:ext>
            </a:extLst>
          </p:cNvPr>
          <p:cNvSpPr>
            <a:spLocks noGrp="1"/>
          </p:cNvSpPr>
          <p:nvPr>
            <p:ph type="title"/>
          </p:nvPr>
        </p:nvSpPr>
        <p:spPr>
          <a:xfrm>
            <a:off x="4335293" y="2834312"/>
            <a:ext cx="3521413" cy="1325563"/>
          </a:xfrm>
        </p:spPr>
        <p:txBody>
          <a:bodyPr/>
          <a:lstStyle/>
          <a:p>
            <a:r>
              <a:rPr lang="en-US" dirty="0"/>
              <a:t>Thank you!</a:t>
            </a:r>
          </a:p>
        </p:txBody>
      </p:sp>
    </p:spTree>
    <p:extLst>
      <p:ext uri="{BB962C8B-B14F-4D97-AF65-F5344CB8AC3E}">
        <p14:creationId xmlns:p14="http://schemas.microsoft.com/office/powerpoint/2010/main" val="2167744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E4892BD034B96469C017CCB84E86BD2" ma:contentTypeVersion="1" ma:contentTypeDescription="Create a new document." ma:contentTypeScope="" ma:versionID="9e6c49a99d22a050f712db755da3db0a">
  <xsd:schema xmlns:xsd="http://www.w3.org/2001/XMLSchema" xmlns:xs="http://www.w3.org/2001/XMLSchema" xmlns:p="http://schemas.microsoft.com/office/2006/metadata/properties" xmlns:ns3="831f9fe3-c50f-4841-866d-984cf39cdffc" targetNamespace="http://schemas.microsoft.com/office/2006/metadata/properties" ma:root="true" ma:fieldsID="82a4f45d53ff3d074ca7edf2efa8b8c2" ns3:_="">
    <xsd:import namespace="831f9fe3-c50f-4841-866d-984cf39cdffc"/>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1f9fe3-c50f-4841-866d-984cf39cdff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80E02B-97CE-4B74-AD6C-9B8A03DFB3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1f9fe3-c50f-4841-866d-984cf39cdf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36DDAE2-5358-4A88-8AA8-ADC21A1DE8B1}">
  <ds:schemaRefs>
    <ds:schemaRef ds:uri="http://schemas.microsoft.com/sharepoint/v3/contenttype/forms"/>
  </ds:schemaRefs>
</ds:datastoreItem>
</file>

<file path=customXml/itemProps3.xml><?xml version="1.0" encoding="utf-8"?>
<ds:datastoreItem xmlns:ds="http://schemas.openxmlformats.org/officeDocument/2006/customXml" ds:itemID="{206F9C76-7C40-4323-9100-3C97A7193B9A}">
  <ds:schemaRefs>
    <ds:schemaRef ds:uri="http://purl.org/dc/elements/1.1/"/>
    <ds:schemaRef ds:uri="http://schemas.microsoft.com/office/2006/documentManagement/types"/>
    <ds:schemaRef ds:uri="http://purl.org/dc/terms/"/>
    <ds:schemaRef ds:uri="831f9fe3-c50f-4841-866d-984cf39cdffc"/>
    <ds:schemaRef ds:uri="http://purl.org/dc/dcmitype/"/>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2020</TotalTime>
  <Words>1187</Words>
  <Application>Microsoft Office PowerPoint</Application>
  <PresentationFormat>Widescreen</PresentationFormat>
  <Paragraphs>166</Paragraphs>
  <Slides>23</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-apple-system</vt:lpstr>
      <vt:lpstr>Aptos</vt:lpstr>
      <vt:lpstr>Aptos Display</vt:lpstr>
      <vt:lpstr>Arial</vt:lpstr>
      <vt:lpstr>Calibri</vt:lpstr>
      <vt:lpstr>Cambria Math</vt:lpstr>
      <vt:lpstr>Helvetica Neue</vt:lpstr>
      <vt:lpstr>Office Theme</vt:lpstr>
      <vt:lpstr>World Happiness Report: An Analysis of Economic, Social, and Governance Influences</vt:lpstr>
      <vt:lpstr>Abstract</vt:lpstr>
      <vt:lpstr>Data Collection</vt:lpstr>
      <vt:lpstr>Dependent Variable: Ladder score (Happiness Score)</vt:lpstr>
      <vt:lpstr>Independent Variables </vt:lpstr>
      <vt:lpstr>Research Question</vt:lpstr>
      <vt:lpstr>Correlation Matrix and Distribution</vt:lpstr>
      <vt:lpstr>Linear Model Summary &amp; Diagnosis:  GDP vs. Happiness Score</vt:lpstr>
      <vt:lpstr>Linear Model Summary &amp; Diagnosis:  Social Support vs. Happiness Score</vt:lpstr>
      <vt:lpstr>Linear Model Summary &amp; Diagnosis: Health vs. Happiness Score</vt:lpstr>
      <vt:lpstr>Linear Model Summary &amp; Diagnosis:  Freedom vs. Happiness Score</vt:lpstr>
      <vt:lpstr>Linear Model Summary &amp; Diagnosis : Corruption vs. Happiness Score</vt:lpstr>
      <vt:lpstr>Linear Model Summary &amp; Diagnosis:  Generosity vs. Happiness Score</vt:lpstr>
      <vt:lpstr>Multiple Linear Regression</vt:lpstr>
      <vt:lpstr>Most Significant Factors </vt:lpstr>
      <vt:lpstr>Research Question 2: Is there a significant difference in happiness scores between high-income and low-income countries?</vt:lpstr>
      <vt:lpstr>Conditions to Make Inference</vt:lpstr>
      <vt:lpstr>Calculating Observed Difference and Simulating the Test on Null Distribution</vt:lpstr>
      <vt:lpstr>p-value</vt:lpstr>
      <vt:lpstr>Conclusion</vt:lpstr>
      <vt:lpstr>Appendix A: Adding Categorical Variable “Region” to the Model</vt:lpstr>
      <vt:lpstr>Appendix B: Dimensionality Reduction for Dummy Variable “Region”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Khandker Qaiduzzaman</dc:creator>
  <cp:lastModifiedBy>Khandker Qaiduzzaman</cp:lastModifiedBy>
  <cp:revision>2</cp:revision>
  <dcterms:created xsi:type="dcterms:W3CDTF">2025-05-02T13:51:14Z</dcterms:created>
  <dcterms:modified xsi:type="dcterms:W3CDTF">2025-12-07T22:49:27Z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0x010100FE4892BD034B96469C017CCB84E86BD2</vt:lpwstr>
  </property>
</Properties>
</file>